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340443c-f25d-758e-b663-4631900c06e3}">
          <p14:sldIdLst>
            <p14:sldId id="256"/>
          </p14:sldIdLst>
        </p14:section>
        <p14:section name="Part 1: Concepts" id="{7cc12852-65bb-08ee-e154-9471c330e81e}">
          <p14:sldIdLst>
            <p14:sldId id="257"/>
            <p14:sldId id="258"/>
            <p14:sldId id="259"/>
          </p14:sldIdLst>
        </p14:section>
        <p14:section name="Part 2: System Analyst" id="{56d06f39-7b46-af6c-3758-480d0fac8663}">
          <p14:sldIdLst>
            <p14:sldId id="260"/>
            <p14:sldId id="261"/>
            <p14:sldId id="262"/>
          </p14:sldIdLst>
        </p14:section>
        <p14:section name="Part 3: SDLC vs Agile" id="{341fbc26-48b1-28c6-35bf-2931dda21c57}">
          <p14:sldIdLst>
            <p14:sldId id="263"/>
            <p14:sldId id="264"/>
            <p14:sldId id="265"/>
          </p14:sldIdLst>
        </p14:section>
        <p14:section name="Wrap-up" id="{775edea9-3a80-df9c-a942-54f37852c80a}">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In this presentation I will summarize my answers for the Chapter 1 activity on System Analysis and Design. I will cover three parts: first the basic concepts of SAD, then the role of the system analyst, and finally the difference between the traditional SDLC and Agile.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In my own words, System Analysis and Design, or SAD, is a continuous process. We study the business problem, plan and design a solution, and then implement an information system that meets a specific business need. The simple way to remember it: SAD turns organizational ambiguity into a working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SAD has three main components. First, System Analysis: gathering requirements, understanding business needs, identifying the core problems, and analyzing potential solutions. Second, System Design: defining the architecture, user interfaces, data structures, and workflows to develop an optimal blueprint. Third, Implementation: executing that blueprint through coding, rigorous testing, deployment, and ongoing maintenance.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SAD is important for two main reasons. Benefit one: it solves real business challenges. Amazon faced a global supply chain challenge, and good analysis and design led to real-time inventory tracking, an AI recommendation engine, and automated delivery scheduling. Benefit two: it builds scalable, reliable systems. Uber has to match riders and drivers in real time, and its design supports GPS tracking, route optimization algorithms, and peak-traffic scalability. Without careful analysis and design, systems like these would not work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4. The system analyst is the bridge between business stakeholders and technical teams, turning business ambiguity into technical clarity. Stakeholders know their needs but not the technology, and the technical teams know the technology but not the business. To do this, the analyst needs four attributes: analytical thinking to break complex problems into smaller parts, communication skills to explain things without jargon, technical proficiency to judge what is feasible, and problem-solving ability to find practical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5. Four key responsibilities of a system analyst are: one, requirement gathering, which means translating stakeholder desires into functional documentation; two, feasibility analysis, which means proving that the solution is viable technically, economically, and operationally; three, system design, which means creating models, workflows, and high-fidelity prototypes; and four, validation and maintenance, which means ensuring the final build mirrors the initial blueprint. I will now explain the first one, requirement gathering,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requirement gathering in more detail. It is where the analyst translates stakeholder desires into functional documentation. Analysts commonly use several techniques: interviews to ask users directly, observation to see how work is really done, questionnaires to reach many users quickly, and document review to study existing forms and reports. For a university library system, the analyst would interview librarians, watch how books are checked out, and survey students about how they search. The result is documentation that stakeholders review and approve before the design begins. If this step is done badly, every later step builds on the wrong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6. The Software Development Life Cycle, or SDLC, is the structured framework that guides a system through analysis, design, and implementation. The chapter presents five SDLC models. Waterfall is linear and sequential, with each phase completed before the next. Iterative is cyclic, and each rotation produces a working, testable version. Spiral merges iteration with aggressive risk analysis for incremental releases. The V-Model pairs every development phase with a testing phase. And Agile is highly flexible and prioritizes rapid customer feedback and incremental delivery. The traditional SDLC usually means the Waterfall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7. Comparing the two. On flexibility: the traditional SDLC, or Waterfall, has low flexibility, because each phase must be completed before moving on, so late changes are hard and costly. Agile has extreme flexibility and adapts to evolving requirements at any time. On development approach: the traditional SDLC is linear and sequential, customers are involved only at the beginning and the end, and risk is handled late. Agile works in iterative sprints with incremental delivery, constant customer involvement, and continuous risk management. In one line: SDLC is plan then build, Agile is build, learn, and adapt.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8. A real-life scenario where Agile is more suitable is a startup building a food-delivery app. The requirements keep evolving and getting to market fast matters, which is exactly what the chapter lists as the ideal case for Agile. With Agile, the team can launch a basic version quickly, collect constant customer feedback after every sprint, and change direction without starting over. A traditional SDLC would force them to lock in requirements too early. By contrast, the traditional SDLC fits better in highly predictable, strictly regulated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SAD is the continuous process of studying, planning, designing, and implementing systems to meet business needs. The system analyst turns business ambiguity into technical clarity. The traditional SDLC is linear with low flexibility, while Agile is extremely flexible with constant customer feedback, and the right choice depends on how predictable the requirements are. Thank you for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SLID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5486400" cy="1463040"/>
          </a:xfrm>
          <a:prstGeom prst="rect">
            <a:avLst/>
          </a:prstGeom>
          <a:noFill/>
          <a:ln/>
        </p:spPr>
        <p:txBody>
          <a:bodyPr wrap="square" rtlCol="0"/>
          <a:lstStyle>
            <a:lvl1pPr indent="0" marL="0">
              <a:buNone/>
              <a:defRPr lang="en-US" sz="4200" b="1" dirty="0">
                <a:solidFill>
                  <a:schemeClr val="bg1"/>
                </a:solidFill>
              </a:defRPr>
            </a:lvl1pPr>
          </a:lstStyle>
          <a:p>
            <a:pPr indent="0" marL="0">
              <a:buNone/>
            </a:pPr>
            <a:endParaRPr lang="en-US" sz="4200" dirty="0"/>
          </a:p>
        </p:txBody>
      </p:sp>
      <p:sp>
        <p:nvSpPr>
          <p:cNvPr id="3" name="Text 0"/>
          <p:cNvSpPr/>
          <p:nvPr>
            <p:ph idx="101" type="body" hasCustomPrompt="1"/>
          </p:nvPr>
        </p:nvSpPr>
        <p:spPr>
          <a:xfrm>
            <a:off x="548640" y="3017520"/>
            <a:ext cx="548640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indent="0" marL="0">
              <a:buNone/>
              <a:defRPr lang="en-US" sz="3400" b="1" dirty="0">
                <a:solidFill>
                  <a:schemeClr val="tx2"/>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5486400" cy="1463040"/>
          </a:xfrm>
          <a:prstGeom prst="rect">
            <a:avLst/>
          </a:prstGeom>
          <a:noFill/>
          <a:ln/>
        </p:spPr>
        <p:txBody>
          <a:bodyPr wrap="square" lIns="0" tIns="0" rIns="0" bIns="0" rtlCol="0" anchor="b"/>
          <a:lstStyle/>
          <a:p>
            <a:pPr indent="0" marL="0">
              <a:buNone/>
            </a:pPr>
            <a:r>
              <a:rPr lang="en-US" sz="4200" b="1" dirty="0">
                <a:solidFill>
                  <a:schemeClr val="bg1"/>
                </a:solidFill>
              </a:rPr>
              <a:t>System Analysis and Design</a:t>
            </a:r>
            <a:endParaRPr lang="en-US" sz="4200" dirty="0"/>
          </a:p>
        </p:txBody>
      </p:sp>
      <p:sp>
        <p:nvSpPr>
          <p:cNvPr id="3" name="Text 0"/>
          <p:cNvSpPr/>
          <p:nvPr>
            <p:ph idx="101" type="body" hasCustomPrompt="1"/>
          </p:nvPr>
        </p:nvSpPr>
        <p:spPr>
          <a:xfrm>
            <a:off x="548640" y="3017520"/>
            <a:ext cx="5486400" cy="914400"/>
          </a:xfrm>
          <a:prstGeom prst="rect">
            <a:avLst/>
          </a:prstGeom>
          <a:noFill/>
          <a:ln/>
        </p:spPr>
        <p:txBody>
          <a:bodyPr wrap="square" lIns="0" tIns="0" rIns="0" bIns="0" rtlCol="0" anchor="t"/>
          <a:lstStyle/>
          <a:p>
            <a:pPr indent="0" marL="0">
              <a:buNone/>
            </a:pPr>
            <a:r>
              <a:rPr lang="en-US" sz="1800" dirty="0">
                <a:solidFill>
                  <a:schemeClr val="bg2"/>
                </a:solidFill>
              </a:rPr>
              <a:t>Chapter 1 Activity: SAD fundamentals, the system analyst, and SDLC vs Agile</a:t>
            </a:r>
            <a:endParaRPr lang="en-US" sz="1800" dirty="0"/>
          </a:p>
        </p:txBody>
      </p:sp>
      <p:sp>
        <p:nvSpPr>
          <p:cNvPr id="4" name="Title motif circle"/>
          <p:cNvSpPr/>
          <p:nvPr/>
        </p:nvSpPr>
        <p:spPr>
          <a:xfrm>
            <a:off x="6492240" y="1463040"/>
            <a:ext cx="2194560" cy="2194560"/>
          </a:xfrm>
          <a:prstGeom prst="ellipse">
            <a:avLst/>
          </a:prstGeom>
          <a:solidFill>
            <a:schemeClr val="accent2"/>
          </a:solidFill>
          <a:ln/>
        </p:spPr>
      </p:sp>
      <p:pic>
        <p:nvPicPr>
          <p:cNvPr id="5" name="Title motif icon" descr="System diagram icon">    </p:cNvPr>
          <p:cNvPicPr>
            <a:picLocks noChangeAspect="1"/>
          </p:cNvPicPr>
          <p:nvPr/>
        </p:nvPicPr>
        <p:blipFill>
          <a:blip r:embed="rId1"/>
          <a:stretch>
            <a:fillRect/>
          </a:stretch>
        </p:blipFill>
        <p:spPr>
          <a:xfrm>
            <a:off x="7040880" y="2011680"/>
            <a:ext cx="1097280" cy="1097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400" b="1" dirty="0">
                <a:solidFill>
                  <a:schemeClr val="tx2"/>
                </a:solidFill>
              </a:rPr>
              <a:t>What Is SAD?</a:t>
            </a:r>
            <a:endParaRPr lang="en-US" sz="3400" dirty="0"/>
          </a:p>
        </p:txBody>
      </p:sp>
      <p:sp>
        <p:nvSpPr>
          <p:cNvPr id="3" name="Definition"/>
          <p:cNvSpPr txBox="1"/>
          <p:nvPr/>
        </p:nvSpPr>
        <p:spPr>
          <a:xfrm>
            <a:off x="457200" y="1325880"/>
            <a:ext cx="4480560" cy="2103120"/>
          </a:xfrm>
          <a:prstGeom prst="rect">
            <a:avLst/>
          </a:prstGeom>
          <a:noFill/>
          <a:ln/>
        </p:spPr>
        <p:txBody>
          <a:bodyPr wrap="square" lIns="0" tIns="0" rIns="0" bIns="0" rtlCol="0" anchor="t"/>
          <a:lstStyle/>
          <a:p>
            <a:pPr indent="0" marL="0">
              <a:buNone/>
            </a:pPr>
            <a:r>
              <a:rPr lang="en-US" sz="1800" dirty="0">
                <a:solidFill>
                  <a:schemeClr val="tx1"/>
                </a:solidFill>
              </a:rPr>
              <a:t>System Analysis and Design (SAD) is the continuous process of studying, planning, designing, and implementing information systems to meet specific business needs.</a:t>
            </a:r>
            <a:endParaRPr lang="en-US" sz="1800" dirty="0"/>
          </a:p>
        </p:txBody>
      </p:sp>
      <p:sp>
        <p:nvSpPr>
          <p:cNvPr id="4" name="Definition takeaway"/>
          <p:cNvSpPr txBox="1"/>
          <p:nvPr/>
        </p:nvSpPr>
        <p:spPr>
          <a:xfrm>
            <a:off x="457200" y="3657600"/>
            <a:ext cx="4480560" cy="731520"/>
          </a:xfrm>
          <a:prstGeom prst="rect">
            <a:avLst/>
          </a:prstGeom>
          <a:noFill/>
          <a:ln/>
        </p:spPr>
        <p:txBody>
          <a:bodyPr wrap="square" lIns="0" tIns="0" rIns="0" bIns="0" rtlCol="0" anchor="t"/>
          <a:lstStyle/>
          <a:p>
            <a:pPr indent="0" marL="0">
              <a:buNone/>
            </a:pPr>
            <a:r>
              <a:rPr lang="en-US" sz="1800" b="1" i="1" dirty="0">
                <a:solidFill>
                  <a:schemeClr val="accent2"/>
                </a:solidFill>
              </a:rPr>
              <a:t>In short: turn organizational ambiguity into a working system.</a:t>
            </a:r>
            <a:endParaRPr lang="en-US" sz="1800" dirty="0"/>
          </a:p>
        </p:txBody>
      </p:sp>
      <p:sp>
        <p:nvSpPr>
          <p:cNvPr id="5" name="Row card 1"/>
          <p:cNvSpPr/>
          <p:nvPr/>
        </p:nvSpPr>
        <p:spPr>
          <a:xfrm>
            <a:off x="5303520" y="1325880"/>
            <a:ext cx="3383280" cy="914400"/>
          </a:xfrm>
          <a:prstGeom prst="roundRect">
            <a:avLst>
              <a:gd name="adj" fmla="val 10000"/>
            </a:avLst>
          </a:prstGeom>
          <a:solidFill>
            <a:schemeClr val="bg2"/>
          </a:solidFill>
          <a:ln/>
        </p:spPr>
      </p:sp>
      <p:sp>
        <p:nvSpPr>
          <p:cNvPr id="6" name="Study the business need circle"/>
          <p:cNvSpPr/>
          <p:nvPr/>
        </p:nvSpPr>
        <p:spPr>
          <a:xfrm>
            <a:off x="5440680" y="1463040"/>
            <a:ext cx="640080" cy="640080"/>
          </a:xfrm>
          <a:prstGeom prst="ellipse">
            <a:avLst/>
          </a:prstGeom>
          <a:solidFill>
            <a:schemeClr val="accent1"/>
          </a:solidFill>
          <a:ln/>
        </p:spPr>
      </p:sp>
      <p:pic>
        <p:nvPicPr>
          <p:cNvPr id="7" name="Study the business need icon" descr="Study the business need">    </p:cNvPr>
          <p:cNvPicPr>
            <a:picLocks noChangeAspect="1"/>
          </p:cNvPicPr>
          <p:nvPr/>
        </p:nvPicPr>
        <p:blipFill>
          <a:blip r:embed="rId1"/>
          <a:stretch>
            <a:fillRect/>
          </a:stretch>
        </p:blipFill>
        <p:spPr>
          <a:xfrm>
            <a:off x="5619902" y="1642262"/>
            <a:ext cx="281635" cy="281635"/>
          </a:xfrm>
          <a:prstGeom prst="rect">
            <a:avLst/>
          </a:prstGeom>
        </p:spPr>
      </p:pic>
      <p:sp>
        <p:nvSpPr>
          <p:cNvPr id="8" name="Row label 1"/>
          <p:cNvSpPr txBox="1"/>
          <p:nvPr/>
        </p:nvSpPr>
        <p:spPr>
          <a:xfrm>
            <a:off x="6263640" y="1325880"/>
            <a:ext cx="2331720" cy="914400"/>
          </a:xfrm>
          <a:prstGeom prst="rect">
            <a:avLst/>
          </a:prstGeom>
          <a:noFill/>
          <a:ln/>
        </p:spPr>
        <p:txBody>
          <a:bodyPr wrap="square" lIns="0" tIns="0" rIns="0" bIns="0" rtlCol="0" anchor="ctr"/>
          <a:lstStyle/>
          <a:p>
            <a:pPr indent="0" marL="0">
              <a:buNone/>
            </a:pPr>
            <a:r>
              <a:rPr lang="en-US" sz="1600" b="1" dirty="0">
                <a:solidFill>
                  <a:schemeClr val="tx1"/>
                </a:solidFill>
              </a:rPr>
              <a:t>Study the business need</a:t>
            </a:r>
            <a:endParaRPr lang="en-US" sz="1600" dirty="0"/>
          </a:p>
        </p:txBody>
      </p:sp>
      <p:sp>
        <p:nvSpPr>
          <p:cNvPr id="9" name="Row card 2"/>
          <p:cNvSpPr/>
          <p:nvPr/>
        </p:nvSpPr>
        <p:spPr>
          <a:xfrm>
            <a:off x="5303520" y="2514600"/>
            <a:ext cx="3383280" cy="914400"/>
          </a:xfrm>
          <a:prstGeom prst="roundRect">
            <a:avLst>
              <a:gd name="adj" fmla="val 10000"/>
            </a:avLst>
          </a:prstGeom>
          <a:solidFill>
            <a:schemeClr val="bg2"/>
          </a:solidFill>
          <a:ln/>
        </p:spPr>
      </p:sp>
      <p:sp>
        <p:nvSpPr>
          <p:cNvPr id="10" name="Plan and design circle"/>
          <p:cNvSpPr/>
          <p:nvPr/>
        </p:nvSpPr>
        <p:spPr>
          <a:xfrm>
            <a:off x="5440680" y="2651760"/>
            <a:ext cx="640080" cy="640080"/>
          </a:xfrm>
          <a:prstGeom prst="ellipse">
            <a:avLst/>
          </a:prstGeom>
          <a:solidFill>
            <a:schemeClr val="accent1"/>
          </a:solidFill>
          <a:ln/>
        </p:spPr>
      </p:sp>
      <p:pic>
        <p:nvPicPr>
          <p:cNvPr id="11" name="Plan and design icon" descr="Plan and design">    </p:cNvPr>
          <p:cNvPicPr>
            <a:picLocks noChangeAspect="1"/>
          </p:cNvPicPr>
          <p:nvPr/>
        </p:nvPicPr>
        <p:blipFill>
          <a:blip r:embed="rId2"/>
          <a:stretch>
            <a:fillRect/>
          </a:stretch>
        </p:blipFill>
        <p:spPr>
          <a:xfrm>
            <a:off x="5619902" y="2830982"/>
            <a:ext cx="281635" cy="281635"/>
          </a:xfrm>
          <a:prstGeom prst="rect">
            <a:avLst/>
          </a:prstGeom>
        </p:spPr>
      </p:pic>
      <p:sp>
        <p:nvSpPr>
          <p:cNvPr id="12" name="Row label 2"/>
          <p:cNvSpPr txBox="1"/>
          <p:nvPr/>
        </p:nvSpPr>
        <p:spPr>
          <a:xfrm>
            <a:off x="6263640" y="2514600"/>
            <a:ext cx="2331720" cy="914400"/>
          </a:xfrm>
          <a:prstGeom prst="rect">
            <a:avLst/>
          </a:prstGeom>
          <a:noFill/>
          <a:ln/>
        </p:spPr>
        <p:txBody>
          <a:bodyPr wrap="square" lIns="0" tIns="0" rIns="0" bIns="0" rtlCol="0" anchor="ctr"/>
          <a:lstStyle/>
          <a:p>
            <a:pPr indent="0" marL="0">
              <a:buNone/>
            </a:pPr>
            <a:r>
              <a:rPr lang="en-US" sz="1600" b="1" dirty="0">
                <a:solidFill>
                  <a:schemeClr val="tx1"/>
                </a:solidFill>
              </a:rPr>
              <a:t>Plan and design</a:t>
            </a:r>
            <a:endParaRPr lang="en-US" sz="1600" dirty="0"/>
          </a:p>
        </p:txBody>
      </p:sp>
      <p:sp>
        <p:nvSpPr>
          <p:cNvPr id="13" name="Row card 3"/>
          <p:cNvSpPr/>
          <p:nvPr/>
        </p:nvSpPr>
        <p:spPr>
          <a:xfrm>
            <a:off x="5303520" y="3703320"/>
            <a:ext cx="3383280" cy="914400"/>
          </a:xfrm>
          <a:prstGeom prst="roundRect">
            <a:avLst>
              <a:gd name="adj" fmla="val 10000"/>
            </a:avLst>
          </a:prstGeom>
          <a:solidFill>
            <a:schemeClr val="bg2"/>
          </a:solidFill>
          <a:ln/>
        </p:spPr>
      </p:sp>
      <p:sp>
        <p:nvSpPr>
          <p:cNvPr id="14" name="Implement the system circle"/>
          <p:cNvSpPr/>
          <p:nvPr/>
        </p:nvSpPr>
        <p:spPr>
          <a:xfrm>
            <a:off x="5440680" y="3840480"/>
            <a:ext cx="640080" cy="640080"/>
          </a:xfrm>
          <a:prstGeom prst="ellipse">
            <a:avLst/>
          </a:prstGeom>
          <a:solidFill>
            <a:schemeClr val="accent1"/>
          </a:solidFill>
          <a:ln/>
        </p:spPr>
      </p:sp>
      <p:pic>
        <p:nvPicPr>
          <p:cNvPr id="15" name="Implement the system icon" descr="Implement the system">    </p:cNvPr>
          <p:cNvPicPr>
            <a:picLocks noChangeAspect="1"/>
          </p:cNvPicPr>
          <p:nvPr/>
        </p:nvPicPr>
        <p:blipFill>
          <a:blip r:embed="rId3"/>
          <a:stretch>
            <a:fillRect/>
          </a:stretch>
        </p:blipFill>
        <p:spPr>
          <a:xfrm>
            <a:off x="5619902" y="4019702"/>
            <a:ext cx="281635" cy="281635"/>
          </a:xfrm>
          <a:prstGeom prst="rect">
            <a:avLst/>
          </a:prstGeom>
        </p:spPr>
      </p:pic>
      <p:sp>
        <p:nvSpPr>
          <p:cNvPr id="16" name="Row label 3"/>
          <p:cNvSpPr txBox="1"/>
          <p:nvPr/>
        </p:nvSpPr>
        <p:spPr>
          <a:xfrm>
            <a:off x="6263640" y="3703320"/>
            <a:ext cx="2331720" cy="914400"/>
          </a:xfrm>
          <a:prstGeom prst="rect">
            <a:avLst/>
          </a:prstGeom>
          <a:noFill/>
          <a:ln/>
        </p:spPr>
        <p:txBody>
          <a:bodyPr wrap="square" lIns="0" tIns="0" rIns="0" bIns="0" rtlCol="0" anchor="ctr"/>
          <a:lstStyle/>
          <a:p>
            <a:pPr indent="0" marL="0">
              <a:buNone/>
            </a:pPr>
            <a:r>
              <a:rPr lang="en-US" sz="1600" b="1" dirty="0">
                <a:solidFill>
                  <a:schemeClr val="tx1"/>
                </a:solidFill>
              </a:rPr>
              <a:t>Implement the system</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400" b="1" dirty="0">
                <a:solidFill>
                  <a:schemeClr val="tx2"/>
                </a:solidFill>
              </a:rPr>
              <a:t>Three Components of SAD</a:t>
            </a:r>
            <a:endParaRPr lang="en-US" sz="3400" dirty="0"/>
          </a:p>
        </p:txBody>
      </p:sp>
      <p:sp>
        <p:nvSpPr>
          <p:cNvPr id="3" name="Component card 1"/>
          <p:cNvSpPr/>
          <p:nvPr/>
        </p:nvSpPr>
        <p:spPr>
          <a:xfrm>
            <a:off x="457200" y="1280160"/>
            <a:ext cx="2560320" cy="3291840"/>
          </a:xfrm>
          <a:prstGeom prst="roundRect">
            <a:avLst>
              <a:gd name="adj" fmla="val 3571"/>
            </a:avLst>
          </a:prstGeom>
          <a:solidFill>
            <a:schemeClr val="bg2"/>
          </a:solidFill>
          <a:ln/>
        </p:spPr>
      </p:sp>
      <p:sp>
        <p:nvSpPr>
          <p:cNvPr id="4" name="System Analysis circle"/>
          <p:cNvSpPr/>
          <p:nvPr/>
        </p:nvSpPr>
        <p:spPr>
          <a:xfrm>
            <a:off x="685800" y="1508760"/>
            <a:ext cx="777240" cy="777240"/>
          </a:xfrm>
          <a:prstGeom prst="ellipse">
            <a:avLst/>
          </a:prstGeom>
          <a:solidFill>
            <a:schemeClr val="accent1"/>
          </a:solidFill>
          <a:ln/>
        </p:spPr>
      </p:sp>
      <p:pic>
        <p:nvPicPr>
          <p:cNvPr id="5" name="System Analysis icon" descr="System Analysis">    </p:cNvPr>
          <p:cNvPicPr>
            <a:picLocks noChangeAspect="1"/>
          </p:cNvPicPr>
          <p:nvPr/>
        </p:nvPicPr>
        <p:blipFill>
          <a:blip r:embed="rId1"/>
          <a:stretch>
            <a:fillRect/>
          </a:stretch>
        </p:blipFill>
        <p:spPr>
          <a:xfrm>
            <a:off x="903427" y="1726387"/>
            <a:ext cx="341986" cy="341986"/>
          </a:xfrm>
          <a:prstGeom prst="rect">
            <a:avLst/>
          </a:prstGeom>
        </p:spPr>
      </p:pic>
      <p:sp>
        <p:nvSpPr>
          <p:cNvPr id="6" name="Component title 1"/>
          <p:cNvSpPr txBox="1"/>
          <p:nvPr/>
        </p:nvSpPr>
        <p:spPr>
          <a:xfrm>
            <a:off x="685800" y="2468880"/>
            <a:ext cx="2103120" cy="457200"/>
          </a:xfrm>
          <a:prstGeom prst="rect">
            <a:avLst/>
          </a:prstGeom>
          <a:noFill/>
          <a:ln/>
        </p:spPr>
        <p:txBody>
          <a:bodyPr wrap="square" lIns="0" tIns="0" rIns="0" bIns="0" rtlCol="0" anchor="t"/>
          <a:lstStyle/>
          <a:p>
            <a:pPr indent="0" marL="0">
              <a:buNone/>
            </a:pPr>
            <a:r>
              <a:rPr lang="en-US" sz="1800" b="1" dirty="0">
                <a:solidFill>
                  <a:schemeClr val="tx2"/>
                </a:solidFill>
              </a:rPr>
              <a:t>System Analysis</a:t>
            </a:r>
            <a:endParaRPr lang="en-US" sz="1800" dirty="0"/>
          </a:p>
        </p:txBody>
      </p:sp>
      <p:sp>
        <p:nvSpPr>
          <p:cNvPr id="7" name="Component text 1"/>
          <p:cNvSpPr txBox="1"/>
          <p:nvPr/>
        </p:nvSpPr>
        <p:spPr>
          <a:xfrm>
            <a:off x="685800" y="2971800"/>
            <a:ext cx="2103120" cy="1463040"/>
          </a:xfrm>
          <a:prstGeom prst="rect">
            <a:avLst/>
          </a:prstGeom>
          <a:noFill/>
          <a:ln/>
        </p:spPr>
        <p:txBody>
          <a:bodyPr wrap="square" lIns="0" tIns="0" rIns="0" bIns="0" rtlCol="0" anchor="t"/>
          <a:lstStyle/>
          <a:p>
            <a:pPr indent="0" marL="0">
              <a:buNone/>
            </a:pPr>
            <a:r>
              <a:rPr lang="en-US" sz="1400" dirty="0">
                <a:solidFill>
                  <a:schemeClr val="tx1"/>
                </a:solidFill>
              </a:rPr>
              <a:t>Gather requirements, understand business needs, identify core problems, and analyze potential solutions.</a:t>
            </a:r>
            <a:endParaRPr lang="en-US" sz="1400" dirty="0"/>
          </a:p>
        </p:txBody>
      </p:sp>
      <p:sp>
        <p:nvSpPr>
          <p:cNvPr id="8" name="Component card 2"/>
          <p:cNvSpPr/>
          <p:nvPr/>
        </p:nvSpPr>
        <p:spPr>
          <a:xfrm>
            <a:off x="3383280" y="1280160"/>
            <a:ext cx="2560320" cy="3291840"/>
          </a:xfrm>
          <a:prstGeom prst="roundRect">
            <a:avLst>
              <a:gd name="adj" fmla="val 3571"/>
            </a:avLst>
          </a:prstGeom>
          <a:solidFill>
            <a:schemeClr val="bg2"/>
          </a:solidFill>
          <a:ln/>
        </p:spPr>
      </p:sp>
      <p:sp>
        <p:nvSpPr>
          <p:cNvPr id="9" name="System Design circle"/>
          <p:cNvSpPr/>
          <p:nvPr/>
        </p:nvSpPr>
        <p:spPr>
          <a:xfrm>
            <a:off x="3611880" y="1508760"/>
            <a:ext cx="777240" cy="777240"/>
          </a:xfrm>
          <a:prstGeom prst="ellipse">
            <a:avLst/>
          </a:prstGeom>
          <a:solidFill>
            <a:schemeClr val="accent1"/>
          </a:solidFill>
          <a:ln/>
        </p:spPr>
      </p:sp>
      <p:pic>
        <p:nvPicPr>
          <p:cNvPr id="10" name="System Design icon" descr="System Design">    </p:cNvPr>
          <p:cNvPicPr>
            <a:picLocks noChangeAspect="1"/>
          </p:cNvPicPr>
          <p:nvPr/>
        </p:nvPicPr>
        <p:blipFill>
          <a:blip r:embed="rId2"/>
          <a:stretch>
            <a:fillRect/>
          </a:stretch>
        </p:blipFill>
        <p:spPr>
          <a:xfrm>
            <a:off x="3829507" y="1726387"/>
            <a:ext cx="341986" cy="341986"/>
          </a:xfrm>
          <a:prstGeom prst="rect">
            <a:avLst/>
          </a:prstGeom>
        </p:spPr>
      </p:pic>
      <p:sp>
        <p:nvSpPr>
          <p:cNvPr id="11" name="Component title 2"/>
          <p:cNvSpPr txBox="1"/>
          <p:nvPr/>
        </p:nvSpPr>
        <p:spPr>
          <a:xfrm>
            <a:off x="3611880" y="2468880"/>
            <a:ext cx="2103120" cy="457200"/>
          </a:xfrm>
          <a:prstGeom prst="rect">
            <a:avLst/>
          </a:prstGeom>
          <a:noFill/>
          <a:ln/>
        </p:spPr>
        <p:txBody>
          <a:bodyPr wrap="square" lIns="0" tIns="0" rIns="0" bIns="0" rtlCol="0" anchor="t"/>
          <a:lstStyle/>
          <a:p>
            <a:pPr indent="0" marL="0">
              <a:buNone/>
            </a:pPr>
            <a:r>
              <a:rPr lang="en-US" sz="1800" b="1" dirty="0">
                <a:solidFill>
                  <a:schemeClr val="tx2"/>
                </a:solidFill>
              </a:rPr>
              <a:t>System Design</a:t>
            </a:r>
            <a:endParaRPr lang="en-US" sz="1800" dirty="0"/>
          </a:p>
        </p:txBody>
      </p:sp>
      <p:sp>
        <p:nvSpPr>
          <p:cNvPr id="12" name="Component text 2"/>
          <p:cNvSpPr txBox="1"/>
          <p:nvPr/>
        </p:nvSpPr>
        <p:spPr>
          <a:xfrm>
            <a:off x="3611880" y="2971800"/>
            <a:ext cx="2103120" cy="1463040"/>
          </a:xfrm>
          <a:prstGeom prst="rect">
            <a:avLst/>
          </a:prstGeom>
          <a:noFill/>
          <a:ln/>
        </p:spPr>
        <p:txBody>
          <a:bodyPr wrap="square" lIns="0" tIns="0" rIns="0" bIns="0" rtlCol="0" anchor="t"/>
          <a:lstStyle/>
          <a:p>
            <a:pPr indent="0" marL="0">
              <a:buNone/>
            </a:pPr>
            <a:r>
              <a:rPr lang="en-US" sz="1400" dirty="0">
                <a:solidFill>
                  <a:schemeClr val="tx1"/>
                </a:solidFill>
              </a:rPr>
              <a:t>Define the architecture, user interfaces, data structures, and workflows to create an optimal blueprint.</a:t>
            </a:r>
            <a:endParaRPr lang="en-US" sz="1400" dirty="0"/>
          </a:p>
        </p:txBody>
      </p:sp>
      <p:sp>
        <p:nvSpPr>
          <p:cNvPr id="13" name="Component card 3"/>
          <p:cNvSpPr/>
          <p:nvPr/>
        </p:nvSpPr>
        <p:spPr>
          <a:xfrm>
            <a:off x="6309360" y="1280160"/>
            <a:ext cx="2560320" cy="3291840"/>
          </a:xfrm>
          <a:prstGeom prst="roundRect">
            <a:avLst>
              <a:gd name="adj" fmla="val 3571"/>
            </a:avLst>
          </a:prstGeom>
          <a:solidFill>
            <a:schemeClr val="bg2"/>
          </a:solidFill>
          <a:ln/>
        </p:spPr>
      </p:sp>
      <p:sp>
        <p:nvSpPr>
          <p:cNvPr id="14" name="Implementation circle"/>
          <p:cNvSpPr/>
          <p:nvPr/>
        </p:nvSpPr>
        <p:spPr>
          <a:xfrm>
            <a:off x="6537960" y="1508760"/>
            <a:ext cx="777240" cy="777240"/>
          </a:xfrm>
          <a:prstGeom prst="ellipse">
            <a:avLst/>
          </a:prstGeom>
          <a:solidFill>
            <a:schemeClr val="accent1"/>
          </a:solidFill>
          <a:ln/>
        </p:spPr>
      </p:sp>
      <p:pic>
        <p:nvPicPr>
          <p:cNvPr id="15" name="Implementation icon" descr="Implementation">    </p:cNvPr>
          <p:cNvPicPr>
            <a:picLocks noChangeAspect="1"/>
          </p:cNvPicPr>
          <p:nvPr/>
        </p:nvPicPr>
        <p:blipFill>
          <a:blip r:embed="rId3"/>
          <a:stretch>
            <a:fillRect/>
          </a:stretch>
        </p:blipFill>
        <p:spPr>
          <a:xfrm>
            <a:off x="6755587" y="1726387"/>
            <a:ext cx="341986" cy="341986"/>
          </a:xfrm>
          <a:prstGeom prst="rect">
            <a:avLst/>
          </a:prstGeom>
        </p:spPr>
      </p:pic>
      <p:sp>
        <p:nvSpPr>
          <p:cNvPr id="16" name="Component title 3"/>
          <p:cNvSpPr txBox="1"/>
          <p:nvPr/>
        </p:nvSpPr>
        <p:spPr>
          <a:xfrm>
            <a:off x="6537960" y="2468880"/>
            <a:ext cx="2103120" cy="457200"/>
          </a:xfrm>
          <a:prstGeom prst="rect">
            <a:avLst/>
          </a:prstGeom>
          <a:noFill/>
          <a:ln/>
        </p:spPr>
        <p:txBody>
          <a:bodyPr wrap="square" lIns="0" tIns="0" rIns="0" bIns="0" rtlCol="0" anchor="t"/>
          <a:lstStyle/>
          <a:p>
            <a:pPr indent="0" marL="0">
              <a:buNone/>
            </a:pPr>
            <a:r>
              <a:rPr lang="en-US" sz="1800" b="1" dirty="0">
                <a:solidFill>
                  <a:schemeClr val="tx2"/>
                </a:solidFill>
              </a:rPr>
              <a:t>Implementation</a:t>
            </a:r>
            <a:endParaRPr lang="en-US" sz="1800" dirty="0"/>
          </a:p>
        </p:txBody>
      </p:sp>
      <p:sp>
        <p:nvSpPr>
          <p:cNvPr id="17" name="Component text 3"/>
          <p:cNvSpPr txBox="1"/>
          <p:nvPr/>
        </p:nvSpPr>
        <p:spPr>
          <a:xfrm>
            <a:off x="6537960" y="2971800"/>
            <a:ext cx="2103120" cy="1463040"/>
          </a:xfrm>
          <a:prstGeom prst="rect">
            <a:avLst/>
          </a:prstGeom>
          <a:noFill/>
          <a:ln/>
        </p:spPr>
        <p:txBody>
          <a:bodyPr wrap="square" lIns="0" tIns="0" rIns="0" bIns="0" rtlCol="0" anchor="t"/>
          <a:lstStyle/>
          <a:p>
            <a:pPr indent="0" marL="0">
              <a:buNone/>
            </a:pPr>
            <a:r>
              <a:rPr lang="en-US" sz="1400" dirty="0">
                <a:solidFill>
                  <a:schemeClr val="tx1"/>
                </a:solidFill>
              </a:rPr>
              <a:t>Execute the blueprint through coding, rigorous testing, deployment, and ongoing maintenance.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400" b="1" dirty="0">
                <a:solidFill>
                  <a:schemeClr val="tx2"/>
                </a:solidFill>
              </a:rPr>
              <a:t>Why SAD Matters</a:t>
            </a:r>
            <a:endParaRPr lang="en-US" sz="3400" dirty="0"/>
          </a:p>
        </p:txBody>
      </p:sp>
      <p:sp>
        <p:nvSpPr>
          <p:cNvPr id="3" name="Benefit card 1"/>
          <p:cNvSpPr/>
          <p:nvPr/>
        </p:nvSpPr>
        <p:spPr>
          <a:xfrm>
            <a:off x="457200" y="1280160"/>
            <a:ext cx="4023360" cy="3291840"/>
          </a:xfrm>
          <a:prstGeom prst="roundRect">
            <a:avLst>
              <a:gd name="adj" fmla="val 2778"/>
            </a:avLst>
          </a:prstGeom>
          <a:solidFill>
            <a:schemeClr val="bg2"/>
          </a:solidFill>
          <a:ln/>
        </p:spPr>
      </p:sp>
      <p:sp>
        <p:nvSpPr>
          <p:cNvPr id="4" name="Benefit number 1"/>
          <p:cNvSpPr txBox="1"/>
          <p:nvPr/>
        </p:nvSpPr>
        <p:spPr>
          <a:xfrm>
            <a:off x="731520" y="1417320"/>
            <a:ext cx="1097280" cy="640080"/>
          </a:xfrm>
          <a:prstGeom prst="rect">
            <a:avLst/>
          </a:prstGeom>
          <a:noFill/>
          <a:ln/>
        </p:spPr>
        <p:txBody>
          <a:bodyPr wrap="square" lIns="0" tIns="0" rIns="0" bIns="0" rtlCol="0" anchor="t"/>
          <a:lstStyle/>
          <a:p>
            <a:pPr indent="0" marL="0">
              <a:buNone/>
            </a:pPr>
            <a:r>
              <a:rPr lang="en-US" sz="4000" b="1" dirty="0">
                <a:solidFill>
                  <a:schemeClr val="accent2"/>
                </a:solidFill>
              </a:rPr>
              <a:t>01</a:t>
            </a:r>
            <a:endParaRPr lang="en-US" sz="4000" dirty="0"/>
          </a:p>
        </p:txBody>
      </p:sp>
      <p:sp>
        <p:nvSpPr>
          <p:cNvPr id="5" name="Benefit title 1"/>
          <p:cNvSpPr txBox="1"/>
          <p:nvPr/>
        </p:nvSpPr>
        <p:spPr>
          <a:xfrm>
            <a:off x="731520" y="2057400"/>
            <a:ext cx="3474720" cy="411480"/>
          </a:xfrm>
          <a:prstGeom prst="rect">
            <a:avLst/>
          </a:prstGeom>
          <a:noFill/>
          <a:ln/>
        </p:spPr>
        <p:txBody>
          <a:bodyPr wrap="square" lIns="0" tIns="0" rIns="0" bIns="0" rtlCol="0" anchor="t"/>
          <a:lstStyle/>
          <a:p>
            <a:pPr indent="0" marL="0">
              <a:buNone/>
            </a:pPr>
            <a:r>
              <a:rPr lang="en-US" sz="2000" b="1" dirty="0">
                <a:solidFill>
                  <a:schemeClr val="tx2"/>
                </a:solidFill>
              </a:rPr>
              <a:t>Solves real business challenges</a:t>
            </a:r>
            <a:endParaRPr lang="en-US" sz="2000" dirty="0"/>
          </a:p>
        </p:txBody>
      </p:sp>
      <p:sp>
        <p:nvSpPr>
          <p:cNvPr id="6" name="Benefit text 1"/>
          <p:cNvSpPr txBox="1"/>
          <p:nvPr/>
        </p:nvSpPr>
        <p:spPr>
          <a:xfrm>
            <a:off x="731520" y="2514600"/>
            <a:ext cx="3474720" cy="731520"/>
          </a:xfrm>
          <a:prstGeom prst="rect">
            <a:avLst/>
          </a:prstGeom>
          <a:noFill/>
          <a:ln/>
        </p:spPr>
        <p:txBody>
          <a:bodyPr wrap="square" lIns="0" tIns="0" rIns="0" bIns="0" rtlCol="0" anchor="t"/>
          <a:lstStyle/>
          <a:p>
            <a:pPr indent="0" marL="0">
              <a:buNone/>
            </a:pPr>
            <a:r>
              <a:rPr lang="en-US" sz="1400" dirty="0">
                <a:solidFill>
                  <a:schemeClr val="tx1"/>
                </a:solidFill>
              </a:rPr>
              <a:t>Structured analysis and design turn a complex business problem into a system that works.</a:t>
            </a:r>
            <a:endParaRPr lang="en-US" sz="1400" dirty="0"/>
          </a:p>
        </p:txBody>
      </p:sp>
      <p:sp>
        <p:nvSpPr>
          <p:cNvPr id="7" name="Benefit example 1"/>
          <p:cNvSpPr txBox="1"/>
          <p:nvPr/>
        </p:nvSpPr>
        <p:spPr>
          <a:xfrm>
            <a:off x="731520" y="3291840"/>
            <a:ext cx="3474720" cy="1143000"/>
          </a:xfrm>
          <a:prstGeom prst="rect">
            <a:avLst/>
          </a:prstGeom>
          <a:noFill/>
          <a:ln/>
        </p:spPr>
        <p:txBody>
          <a:bodyPr wrap="square" lIns="0" tIns="0" rIns="0" bIns="0" rtlCol="0" anchor="t"/>
          <a:lstStyle/>
          <a:p>
            <a:pPr indent="0" marL="0">
              <a:buNone/>
            </a:pPr>
            <a:r>
              <a:rPr lang="en-US" sz="1400" i="1" dirty="0">
                <a:solidFill>
                  <a:schemeClr val="accent1"/>
                </a:solidFill>
              </a:rPr>
              <a:t>Example: Amazon's global supply chain challenge led to real-time inventory tracking, an AI recommendation engine, and automated delivery scheduling.</a:t>
            </a:r>
            <a:endParaRPr lang="en-US" sz="1400" dirty="0"/>
          </a:p>
        </p:txBody>
      </p:sp>
      <p:sp>
        <p:nvSpPr>
          <p:cNvPr id="8" name="Benefit card 2"/>
          <p:cNvSpPr/>
          <p:nvPr/>
        </p:nvSpPr>
        <p:spPr>
          <a:xfrm>
            <a:off x="4663440" y="1280160"/>
            <a:ext cx="4023360" cy="3291840"/>
          </a:xfrm>
          <a:prstGeom prst="roundRect">
            <a:avLst>
              <a:gd name="adj" fmla="val 2778"/>
            </a:avLst>
          </a:prstGeom>
          <a:solidFill>
            <a:schemeClr val="bg2"/>
          </a:solidFill>
          <a:ln/>
        </p:spPr>
      </p:sp>
      <p:sp>
        <p:nvSpPr>
          <p:cNvPr id="9" name="Benefit number 2"/>
          <p:cNvSpPr txBox="1"/>
          <p:nvPr/>
        </p:nvSpPr>
        <p:spPr>
          <a:xfrm>
            <a:off x="4937760" y="1417320"/>
            <a:ext cx="1097280" cy="640080"/>
          </a:xfrm>
          <a:prstGeom prst="rect">
            <a:avLst/>
          </a:prstGeom>
          <a:noFill/>
          <a:ln/>
        </p:spPr>
        <p:txBody>
          <a:bodyPr wrap="square" lIns="0" tIns="0" rIns="0" bIns="0" rtlCol="0" anchor="t"/>
          <a:lstStyle/>
          <a:p>
            <a:pPr indent="0" marL="0">
              <a:buNone/>
            </a:pPr>
            <a:r>
              <a:rPr lang="en-US" sz="4000" b="1" dirty="0">
                <a:solidFill>
                  <a:schemeClr val="accent2"/>
                </a:solidFill>
              </a:rPr>
              <a:t>02</a:t>
            </a:r>
            <a:endParaRPr lang="en-US" sz="4000" dirty="0"/>
          </a:p>
        </p:txBody>
      </p:sp>
      <p:sp>
        <p:nvSpPr>
          <p:cNvPr id="10" name="Benefit title 2"/>
          <p:cNvSpPr txBox="1"/>
          <p:nvPr/>
        </p:nvSpPr>
        <p:spPr>
          <a:xfrm>
            <a:off x="4937760" y="2057400"/>
            <a:ext cx="3474720" cy="411480"/>
          </a:xfrm>
          <a:prstGeom prst="rect">
            <a:avLst/>
          </a:prstGeom>
          <a:noFill/>
          <a:ln/>
        </p:spPr>
        <p:txBody>
          <a:bodyPr wrap="square" lIns="0" tIns="0" rIns="0" bIns="0" rtlCol="0" anchor="t"/>
          <a:lstStyle/>
          <a:p>
            <a:pPr indent="0" marL="0">
              <a:buNone/>
            </a:pPr>
            <a:r>
              <a:rPr lang="en-US" sz="2000" b="1" dirty="0">
                <a:solidFill>
                  <a:schemeClr val="tx2"/>
                </a:solidFill>
              </a:rPr>
              <a:t>Builds scalable, reliable systems</a:t>
            </a:r>
            <a:endParaRPr lang="en-US" sz="2000" dirty="0"/>
          </a:p>
        </p:txBody>
      </p:sp>
      <p:sp>
        <p:nvSpPr>
          <p:cNvPr id="11" name="Benefit text 2"/>
          <p:cNvSpPr txBox="1"/>
          <p:nvPr/>
        </p:nvSpPr>
        <p:spPr>
          <a:xfrm>
            <a:off x="4937760" y="2514600"/>
            <a:ext cx="3474720" cy="731520"/>
          </a:xfrm>
          <a:prstGeom prst="rect">
            <a:avLst/>
          </a:prstGeom>
          <a:noFill/>
          <a:ln/>
        </p:spPr>
        <p:txBody>
          <a:bodyPr wrap="square" lIns="0" tIns="0" rIns="0" bIns="0" rtlCol="0" anchor="t"/>
          <a:lstStyle/>
          <a:p>
            <a:pPr indent="0" marL="0">
              <a:buNone/>
            </a:pPr>
            <a:r>
              <a:rPr lang="en-US" sz="1400" dirty="0">
                <a:solidFill>
                  <a:schemeClr val="tx1"/>
                </a:solidFill>
              </a:rPr>
              <a:t>Planning the architecture first lets a system handle heavy demand without breaking.</a:t>
            </a:r>
            <a:endParaRPr lang="en-US" sz="1400" dirty="0"/>
          </a:p>
        </p:txBody>
      </p:sp>
      <p:sp>
        <p:nvSpPr>
          <p:cNvPr id="12" name="Benefit example 2"/>
          <p:cNvSpPr txBox="1"/>
          <p:nvPr/>
        </p:nvSpPr>
        <p:spPr>
          <a:xfrm>
            <a:off x="4937760" y="3291840"/>
            <a:ext cx="3474720" cy="1143000"/>
          </a:xfrm>
          <a:prstGeom prst="rect">
            <a:avLst/>
          </a:prstGeom>
          <a:noFill/>
          <a:ln/>
        </p:spPr>
        <p:txBody>
          <a:bodyPr wrap="square" lIns="0" tIns="0" rIns="0" bIns="0" rtlCol="0" anchor="t"/>
          <a:lstStyle/>
          <a:p>
            <a:pPr indent="0" marL="0">
              <a:buNone/>
            </a:pPr>
            <a:r>
              <a:rPr lang="en-US" sz="1400" i="1" dirty="0">
                <a:solidFill>
                  <a:schemeClr val="accent1"/>
                </a:solidFill>
              </a:rPr>
              <a:t>Example: Uber matches riders and drivers in real time, using GPS tracking, route optimization, and design for peak traffic.</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400" b="1" dirty="0">
                <a:solidFill>
                  <a:schemeClr val="tx2"/>
                </a:solidFill>
              </a:rPr>
              <a:t>Role of a System Analyst</a:t>
            </a:r>
            <a:endParaRPr lang="en-US" sz="3400" dirty="0"/>
          </a:p>
        </p:txBody>
      </p:sp>
      <p:sp>
        <p:nvSpPr>
          <p:cNvPr id="3" name="Business users box"/>
          <p:cNvSpPr/>
          <p:nvPr/>
        </p:nvSpPr>
        <p:spPr>
          <a:xfrm>
            <a:off x="457200" y="1463040"/>
            <a:ext cx="2468880" cy="1371600"/>
          </a:xfrm>
          <a:prstGeom prst="roundRect">
            <a:avLst>
              <a:gd name="adj" fmla="val 6667"/>
            </a:avLst>
          </a:prstGeom>
          <a:solidFill>
            <a:schemeClr val="bg2"/>
          </a:solidFill>
          <a:ln/>
        </p:spPr>
      </p:sp>
      <p:sp>
        <p:nvSpPr>
          <p:cNvPr id="4" name="Business users text"/>
          <p:cNvSpPr txBox="1"/>
          <p:nvPr/>
        </p:nvSpPr>
        <p:spPr>
          <a:xfrm>
            <a:off x="640080" y="1463040"/>
            <a:ext cx="2103120" cy="1371600"/>
          </a:xfrm>
          <a:prstGeom prst="rect">
            <a:avLst/>
          </a:prstGeom>
          <a:noFill/>
          <a:ln/>
        </p:spPr>
        <p:txBody>
          <a:bodyPr wrap="square" lIns="0" tIns="0" rIns="0" bIns="0" rtlCol="0" anchor="ctr"/>
          <a:lstStyle/>
          <a:p>
            <a:pPr indent="0" marL="0">
              <a:buNone/>
            </a:pPr>
            <a:r>
              <a:rPr lang="en-US" sz="1800" b="1" dirty="0">
                <a:solidFill>
                  <a:schemeClr val="tx2"/>
                </a:solidFill>
              </a:rPr>
              <a:t>Business stakeholders</a:t>
            </a:r>
            <a:endParaRPr lang="en-US" sz="1800" dirty="0"/>
          </a:p>
          <a:p>
            <a:pPr indent="0" marL="0">
              <a:buNone/>
            </a:pPr>
            <a:r>
              <a:rPr lang="en-US" sz="1400" dirty="0">
                <a:solidFill>
                  <a:schemeClr val="tx1"/>
                </a:solidFill>
              </a:rPr>
              <a:t>needs, problems, desires</a:t>
            </a:r>
            <a:endParaRPr lang="en-US" sz="1800" dirty="0"/>
          </a:p>
        </p:txBody>
      </p:sp>
      <p:sp>
        <p:nvSpPr>
          <p:cNvPr id="5" name="Analyst circle"/>
          <p:cNvSpPr/>
          <p:nvPr/>
        </p:nvSpPr>
        <p:spPr>
          <a:xfrm>
            <a:off x="3566160" y="1325880"/>
            <a:ext cx="2011680" cy="1645920"/>
          </a:xfrm>
          <a:prstGeom prst="ellipse">
            <a:avLst/>
          </a:prstGeom>
          <a:solidFill>
            <a:schemeClr val="accent2"/>
          </a:solidFill>
          <a:ln/>
        </p:spPr>
      </p:sp>
      <p:sp>
        <p:nvSpPr>
          <p:cNvPr id="6" name="Analyst label"/>
          <p:cNvSpPr txBox="1"/>
          <p:nvPr/>
        </p:nvSpPr>
        <p:spPr>
          <a:xfrm>
            <a:off x="3566160" y="1325880"/>
            <a:ext cx="2011680" cy="1645920"/>
          </a:xfrm>
          <a:prstGeom prst="rect">
            <a:avLst/>
          </a:prstGeom>
          <a:noFill/>
          <a:ln/>
        </p:spPr>
        <p:txBody>
          <a:bodyPr wrap="square" lIns="0" tIns="0" rIns="0" bIns="0" rtlCol="0" anchor="ctr"/>
          <a:lstStyle/>
          <a:p>
            <a:pPr algn="ctr" indent="0" marL="0">
              <a:buNone/>
            </a:pPr>
            <a:r>
              <a:rPr lang="en-US" sz="1800" b="1" dirty="0">
                <a:solidFill>
                  <a:schemeClr val="bg1"/>
                </a:solidFill>
              </a:rPr>
              <a:t>System Analyst</a:t>
            </a:r>
            <a:endParaRPr lang="en-US" sz="1800" dirty="0"/>
          </a:p>
        </p:txBody>
      </p:sp>
      <p:sp>
        <p:nvSpPr>
          <p:cNvPr id="7" name="Developers box"/>
          <p:cNvSpPr/>
          <p:nvPr/>
        </p:nvSpPr>
        <p:spPr>
          <a:xfrm>
            <a:off x="6217920" y="1463040"/>
            <a:ext cx="2468880" cy="1371600"/>
          </a:xfrm>
          <a:prstGeom prst="roundRect">
            <a:avLst>
              <a:gd name="adj" fmla="val 6667"/>
            </a:avLst>
          </a:prstGeom>
          <a:solidFill>
            <a:schemeClr val="bg2"/>
          </a:solidFill>
          <a:ln/>
        </p:spPr>
      </p:sp>
      <p:sp>
        <p:nvSpPr>
          <p:cNvPr id="8" name="Developers text"/>
          <p:cNvSpPr txBox="1"/>
          <p:nvPr/>
        </p:nvSpPr>
        <p:spPr>
          <a:xfrm>
            <a:off x="6400800" y="1463040"/>
            <a:ext cx="2103120" cy="1371600"/>
          </a:xfrm>
          <a:prstGeom prst="rect">
            <a:avLst/>
          </a:prstGeom>
          <a:noFill/>
          <a:ln/>
        </p:spPr>
        <p:txBody>
          <a:bodyPr wrap="square" lIns="0" tIns="0" rIns="0" bIns="0" rtlCol="0" anchor="ctr"/>
          <a:lstStyle/>
          <a:p>
            <a:pPr indent="0" marL="0">
              <a:buNone/>
            </a:pPr>
            <a:r>
              <a:rPr lang="en-US" sz="1800" b="1" dirty="0">
                <a:solidFill>
                  <a:schemeClr val="tx2"/>
                </a:solidFill>
              </a:rPr>
              <a:t>Technical teams</a:t>
            </a:r>
            <a:endParaRPr lang="en-US" sz="1800" dirty="0"/>
          </a:p>
          <a:p>
            <a:pPr indent="0" marL="0">
              <a:buNone/>
            </a:pPr>
            <a:r>
              <a:rPr lang="en-US" sz="1400" dirty="0">
                <a:solidFill>
                  <a:schemeClr val="tx1"/>
                </a:solidFill>
              </a:rPr>
              <a:t>code, data, interfaces</a:t>
            </a:r>
            <a:endParaRPr lang="en-US" sz="1800" dirty="0"/>
          </a:p>
        </p:txBody>
      </p:sp>
      <p:sp>
        <p:nvSpPr>
          <p:cNvPr id="9" name="Arrow left"/>
          <p:cNvSpPr/>
          <p:nvPr/>
        </p:nvSpPr>
        <p:spPr>
          <a:xfrm>
            <a:off x="2971800" y="2148840"/>
            <a:ext cx="548640" cy="0"/>
          </a:xfrm>
          <a:prstGeom prst="line">
            <a:avLst/>
          </a:prstGeom>
          <a:noFill/>
          <a:ln w="31750">
            <a:solidFill>
              <a:schemeClr val="accent1"/>
            </a:solidFill>
            <a:prstDash val="solid"/>
            <a:headEnd type="triangle"/>
            <a:tailEnd type="triangle"/>
          </a:ln>
        </p:spPr>
      </p:sp>
      <p:sp>
        <p:nvSpPr>
          <p:cNvPr id="10" name="Arrow right"/>
          <p:cNvSpPr/>
          <p:nvPr/>
        </p:nvSpPr>
        <p:spPr>
          <a:xfrm>
            <a:off x="5623560" y="2148840"/>
            <a:ext cx="548640" cy="0"/>
          </a:xfrm>
          <a:prstGeom prst="line">
            <a:avLst/>
          </a:prstGeom>
          <a:noFill/>
          <a:ln w="31750">
            <a:solidFill>
              <a:schemeClr val="accent1"/>
            </a:solidFill>
            <a:prstDash val="solid"/>
            <a:headEnd type="triangle"/>
            <a:tailEnd type="triangle"/>
          </a:ln>
        </p:spPr>
      </p:sp>
      <p:sp>
        <p:nvSpPr>
          <p:cNvPr id="11" name="Role statement"/>
          <p:cNvSpPr txBox="1"/>
          <p:nvPr/>
        </p:nvSpPr>
        <p:spPr>
          <a:xfrm>
            <a:off x="457200" y="3291840"/>
            <a:ext cx="8229600" cy="457200"/>
          </a:xfrm>
          <a:prstGeom prst="rect">
            <a:avLst/>
          </a:prstGeom>
          <a:noFill/>
          <a:ln/>
        </p:spPr>
        <p:txBody>
          <a:bodyPr wrap="square" lIns="0" tIns="0" rIns="0" bIns="0" rtlCol="0" anchor="t"/>
          <a:lstStyle/>
          <a:p>
            <a:pPr indent="0" marL="0">
              <a:buNone/>
            </a:pPr>
            <a:r>
              <a:rPr lang="en-US" sz="2000" b="1" dirty="0">
                <a:solidFill>
                  <a:schemeClr val="tx2"/>
                </a:solidFill>
              </a:rPr>
              <a:t>The analyst turns business ambiguity into technical clarity.</a:t>
            </a:r>
            <a:endParaRPr lang="en-US" sz="2000" dirty="0"/>
          </a:p>
        </p:txBody>
      </p:sp>
      <p:sp>
        <p:nvSpPr>
          <p:cNvPr id="12" name="Role detail"/>
          <p:cNvSpPr txBox="1"/>
          <p:nvPr/>
        </p:nvSpPr>
        <p:spPr>
          <a:xfrm>
            <a:off x="457200" y="3794760"/>
            <a:ext cx="8229600" cy="731520"/>
          </a:xfrm>
          <a:prstGeom prst="rect">
            <a:avLst/>
          </a:prstGeom>
          <a:noFill/>
          <a:ln/>
        </p:spPr>
        <p:txBody>
          <a:bodyPr wrap="square" lIns="0" tIns="0" rIns="0" bIns="0" rtlCol="0" anchor="t"/>
          <a:lstStyle/>
          <a:p>
            <a:pPr indent="0" marL="0">
              <a:buNone/>
            </a:pPr>
            <a:r>
              <a:rPr lang="en-US" sz="1600" dirty="0">
                <a:solidFill>
                  <a:schemeClr val="tx1"/>
                </a:solidFill>
              </a:rPr>
              <a:t>As the liaison between stakeholders and technical teams, the analyst uses analytical thinking, communication skills, technical proficiency, and problem-solving ability.</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400" b="1" dirty="0">
                <a:solidFill>
                  <a:schemeClr val="tx2"/>
                </a:solidFill>
              </a:rPr>
              <a:t>Four Key Responsibilities</a:t>
            </a:r>
            <a:endParaRPr lang="en-US" sz="3400" dirty="0"/>
          </a:p>
        </p:txBody>
      </p:sp>
      <p:sp>
        <p:nvSpPr>
          <p:cNvPr id="3" name="Responsibility card 1"/>
          <p:cNvSpPr/>
          <p:nvPr/>
        </p:nvSpPr>
        <p:spPr>
          <a:xfrm>
            <a:off x="457200" y="1280160"/>
            <a:ext cx="4023360" cy="1508760"/>
          </a:xfrm>
          <a:prstGeom prst="roundRect">
            <a:avLst>
              <a:gd name="adj" fmla="val 6061"/>
            </a:avLst>
          </a:prstGeom>
          <a:solidFill>
            <a:schemeClr val="accent1"/>
          </a:solidFill>
          <a:ln/>
        </p:spPr>
      </p:sp>
      <p:sp>
        <p:nvSpPr>
          <p:cNvPr id="4" name="Requirement gathering circle"/>
          <p:cNvSpPr/>
          <p:nvPr/>
        </p:nvSpPr>
        <p:spPr>
          <a:xfrm>
            <a:off x="685800" y="1645920"/>
            <a:ext cx="777240" cy="777240"/>
          </a:xfrm>
          <a:prstGeom prst="ellipse">
            <a:avLst/>
          </a:prstGeom>
          <a:solidFill>
            <a:schemeClr val="accent2"/>
          </a:solidFill>
          <a:ln/>
        </p:spPr>
      </p:sp>
      <p:pic>
        <p:nvPicPr>
          <p:cNvPr id="5" name="Requirement gathering icon" descr="Requirement gathering">    </p:cNvPr>
          <p:cNvPicPr>
            <a:picLocks noChangeAspect="1"/>
          </p:cNvPicPr>
          <p:nvPr/>
        </p:nvPicPr>
        <p:blipFill>
          <a:blip r:embed="rId1"/>
          <a:stretch>
            <a:fillRect/>
          </a:stretch>
        </p:blipFill>
        <p:spPr>
          <a:xfrm>
            <a:off x="903427" y="1863547"/>
            <a:ext cx="341986" cy="341986"/>
          </a:xfrm>
          <a:prstGeom prst="rect">
            <a:avLst/>
          </a:prstGeom>
        </p:spPr>
      </p:pic>
      <p:sp>
        <p:nvSpPr>
          <p:cNvPr id="6" name="Responsibility title 1"/>
          <p:cNvSpPr txBox="1"/>
          <p:nvPr/>
        </p:nvSpPr>
        <p:spPr>
          <a:xfrm>
            <a:off x="1645920" y="1463040"/>
            <a:ext cx="2651760" cy="365760"/>
          </a:xfrm>
          <a:prstGeom prst="rect">
            <a:avLst/>
          </a:prstGeom>
          <a:noFill/>
          <a:ln/>
        </p:spPr>
        <p:txBody>
          <a:bodyPr wrap="square" lIns="0" tIns="0" rIns="0" bIns="0" rtlCol="0" anchor="t"/>
          <a:lstStyle/>
          <a:p>
            <a:pPr indent="0" marL="0">
              <a:buNone/>
            </a:pPr>
            <a:r>
              <a:rPr lang="en-US" sz="1800" b="1" dirty="0">
                <a:solidFill>
                  <a:schemeClr val="bg1"/>
                </a:solidFill>
              </a:rPr>
              <a:t>Requirement gathering</a:t>
            </a:r>
            <a:endParaRPr lang="en-US" sz="1800" dirty="0"/>
          </a:p>
        </p:txBody>
      </p:sp>
      <p:sp>
        <p:nvSpPr>
          <p:cNvPr id="7" name="Responsibility text 1"/>
          <p:cNvSpPr txBox="1"/>
          <p:nvPr/>
        </p:nvSpPr>
        <p:spPr>
          <a:xfrm>
            <a:off x="1645920" y="1874520"/>
            <a:ext cx="2651760" cy="822960"/>
          </a:xfrm>
          <a:prstGeom prst="rect">
            <a:avLst/>
          </a:prstGeom>
          <a:noFill/>
          <a:ln/>
        </p:spPr>
        <p:txBody>
          <a:bodyPr wrap="square" lIns="0" tIns="0" rIns="0" bIns="0" rtlCol="0" anchor="t"/>
          <a:lstStyle/>
          <a:p>
            <a:pPr indent="0" marL="0">
              <a:buNone/>
            </a:pPr>
            <a:r>
              <a:rPr lang="en-US" sz="1400" dirty="0">
                <a:solidFill>
                  <a:schemeClr val="bg1"/>
                </a:solidFill>
              </a:rPr>
              <a:t>Translate stakeholder desires into functional documentation. Explained next.</a:t>
            </a:r>
            <a:endParaRPr lang="en-US" sz="1400" dirty="0"/>
          </a:p>
        </p:txBody>
      </p:sp>
      <p:sp>
        <p:nvSpPr>
          <p:cNvPr id="8" name="Responsibility card 2"/>
          <p:cNvSpPr/>
          <p:nvPr/>
        </p:nvSpPr>
        <p:spPr>
          <a:xfrm>
            <a:off x="4663440" y="1280160"/>
            <a:ext cx="4023360" cy="1508760"/>
          </a:xfrm>
          <a:prstGeom prst="roundRect">
            <a:avLst>
              <a:gd name="adj" fmla="val 6061"/>
            </a:avLst>
          </a:prstGeom>
          <a:solidFill>
            <a:schemeClr val="bg2"/>
          </a:solidFill>
          <a:ln/>
        </p:spPr>
      </p:sp>
      <p:sp>
        <p:nvSpPr>
          <p:cNvPr id="9" name="Feasibility analysis circle"/>
          <p:cNvSpPr/>
          <p:nvPr/>
        </p:nvSpPr>
        <p:spPr>
          <a:xfrm>
            <a:off x="4892040" y="1645920"/>
            <a:ext cx="777240" cy="777240"/>
          </a:xfrm>
          <a:prstGeom prst="ellipse">
            <a:avLst/>
          </a:prstGeom>
          <a:solidFill>
            <a:schemeClr val="accent1"/>
          </a:solidFill>
          <a:ln/>
        </p:spPr>
      </p:sp>
      <p:pic>
        <p:nvPicPr>
          <p:cNvPr id="10" name="Feasibility analysis icon" descr="Feasibility analysis">    </p:cNvPr>
          <p:cNvPicPr>
            <a:picLocks noChangeAspect="1"/>
          </p:cNvPicPr>
          <p:nvPr/>
        </p:nvPicPr>
        <p:blipFill>
          <a:blip r:embed="rId2"/>
          <a:stretch>
            <a:fillRect/>
          </a:stretch>
        </p:blipFill>
        <p:spPr>
          <a:xfrm>
            <a:off x="5109667" y="1863547"/>
            <a:ext cx="341986" cy="341986"/>
          </a:xfrm>
          <a:prstGeom prst="rect">
            <a:avLst/>
          </a:prstGeom>
        </p:spPr>
      </p:pic>
      <p:sp>
        <p:nvSpPr>
          <p:cNvPr id="11" name="Responsibility title 2"/>
          <p:cNvSpPr txBox="1"/>
          <p:nvPr/>
        </p:nvSpPr>
        <p:spPr>
          <a:xfrm>
            <a:off x="5852160" y="1463040"/>
            <a:ext cx="2651760" cy="365760"/>
          </a:xfrm>
          <a:prstGeom prst="rect">
            <a:avLst/>
          </a:prstGeom>
          <a:noFill/>
          <a:ln/>
        </p:spPr>
        <p:txBody>
          <a:bodyPr wrap="square" lIns="0" tIns="0" rIns="0" bIns="0" rtlCol="0" anchor="t"/>
          <a:lstStyle/>
          <a:p>
            <a:pPr indent="0" marL="0">
              <a:buNone/>
            </a:pPr>
            <a:r>
              <a:rPr lang="en-US" sz="1800" b="1" dirty="0">
                <a:solidFill>
                  <a:schemeClr val="tx2"/>
                </a:solidFill>
              </a:rPr>
              <a:t>Feasibility analysis</a:t>
            </a:r>
            <a:endParaRPr lang="en-US" sz="1800" dirty="0"/>
          </a:p>
        </p:txBody>
      </p:sp>
      <p:sp>
        <p:nvSpPr>
          <p:cNvPr id="12" name="Responsibility text 2"/>
          <p:cNvSpPr txBox="1"/>
          <p:nvPr/>
        </p:nvSpPr>
        <p:spPr>
          <a:xfrm>
            <a:off x="5852160" y="1874520"/>
            <a:ext cx="2651760" cy="822960"/>
          </a:xfrm>
          <a:prstGeom prst="rect">
            <a:avLst/>
          </a:prstGeom>
          <a:noFill/>
          <a:ln/>
        </p:spPr>
        <p:txBody>
          <a:bodyPr wrap="square" lIns="0" tIns="0" rIns="0" bIns="0" rtlCol="0" anchor="t"/>
          <a:lstStyle/>
          <a:p>
            <a:pPr indent="0" marL="0">
              <a:buNone/>
            </a:pPr>
            <a:r>
              <a:rPr lang="en-US" sz="1400" dirty="0">
                <a:solidFill>
                  <a:schemeClr val="tx1"/>
                </a:solidFill>
              </a:rPr>
              <a:t>Prove technical, economic, and operational viability.</a:t>
            </a:r>
            <a:endParaRPr lang="en-US" sz="1400" dirty="0"/>
          </a:p>
        </p:txBody>
      </p:sp>
      <p:sp>
        <p:nvSpPr>
          <p:cNvPr id="13" name="Responsibility card 3"/>
          <p:cNvSpPr/>
          <p:nvPr/>
        </p:nvSpPr>
        <p:spPr>
          <a:xfrm>
            <a:off x="457200" y="2971800"/>
            <a:ext cx="4023360" cy="1508760"/>
          </a:xfrm>
          <a:prstGeom prst="roundRect">
            <a:avLst>
              <a:gd name="adj" fmla="val 6061"/>
            </a:avLst>
          </a:prstGeom>
          <a:solidFill>
            <a:schemeClr val="bg2"/>
          </a:solidFill>
          <a:ln/>
        </p:spPr>
      </p:sp>
      <p:sp>
        <p:nvSpPr>
          <p:cNvPr id="14" name="System design circle"/>
          <p:cNvSpPr/>
          <p:nvPr/>
        </p:nvSpPr>
        <p:spPr>
          <a:xfrm>
            <a:off x="685800" y="3337560"/>
            <a:ext cx="777240" cy="777240"/>
          </a:xfrm>
          <a:prstGeom prst="ellipse">
            <a:avLst/>
          </a:prstGeom>
          <a:solidFill>
            <a:schemeClr val="accent1"/>
          </a:solidFill>
          <a:ln/>
        </p:spPr>
      </p:sp>
      <p:pic>
        <p:nvPicPr>
          <p:cNvPr id="15" name="System design icon" descr="System design">    </p:cNvPr>
          <p:cNvPicPr>
            <a:picLocks noChangeAspect="1"/>
          </p:cNvPicPr>
          <p:nvPr/>
        </p:nvPicPr>
        <p:blipFill>
          <a:blip r:embed="rId3"/>
          <a:stretch>
            <a:fillRect/>
          </a:stretch>
        </p:blipFill>
        <p:spPr>
          <a:xfrm>
            <a:off x="903427" y="3555187"/>
            <a:ext cx="341986" cy="341986"/>
          </a:xfrm>
          <a:prstGeom prst="rect">
            <a:avLst/>
          </a:prstGeom>
        </p:spPr>
      </p:pic>
      <p:sp>
        <p:nvSpPr>
          <p:cNvPr id="16" name="Responsibility title 3"/>
          <p:cNvSpPr txBox="1"/>
          <p:nvPr/>
        </p:nvSpPr>
        <p:spPr>
          <a:xfrm>
            <a:off x="1645920" y="3154680"/>
            <a:ext cx="2651760" cy="365760"/>
          </a:xfrm>
          <a:prstGeom prst="rect">
            <a:avLst/>
          </a:prstGeom>
          <a:noFill/>
          <a:ln/>
        </p:spPr>
        <p:txBody>
          <a:bodyPr wrap="square" lIns="0" tIns="0" rIns="0" bIns="0" rtlCol="0" anchor="t"/>
          <a:lstStyle/>
          <a:p>
            <a:pPr indent="0" marL="0">
              <a:buNone/>
            </a:pPr>
            <a:r>
              <a:rPr lang="en-US" sz="1800" b="1" dirty="0">
                <a:solidFill>
                  <a:schemeClr val="tx2"/>
                </a:solidFill>
              </a:rPr>
              <a:t>System design</a:t>
            </a:r>
            <a:endParaRPr lang="en-US" sz="1800" dirty="0"/>
          </a:p>
        </p:txBody>
      </p:sp>
      <p:sp>
        <p:nvSpPr>
          <p:cNvPr id="17" name="Responsibility text 3"/>
          <p:cNvSpPr txBox="1"/>
          <p:nvPr/>
        </p:nvSpPr>
        <p:spPr>
          <a:xfrm>
            <a:off x="1645920" y="3566160"/>
            <a:ext cx="2651760" cy="822960"/>
          </a:xfrm>
          <a:prstGeom prst="rect">
            <a:avLst/>
          </a:prstGeom>
          <a:noFill/>
          <a:ln/>
        </p:spPr>
        <p:txBody>
          <a:bodyPr wrap="square" lIns="0" tIns="0" rIns="0" bIns="0" rtlCol="0" anchor="t"/>
          <a:lstStyle/>
          <a:p>
            <a:pPr indent="0" marL="0">
              <a:buNone/>
            </a:pPr>
            <a:r>
              <a:rPr lang="en-US" sz="1400" dirty="0">
                <a:solidFill>
                  <a:schemeClr val="tx1"/>
                </a:solidFill>
              </a:rPr>
              <a:t>Create models, workflows, and high-fidelity prototypes.</a:t>
            </a:r>
            <a:endParaRPr lang="en-US" sz="1400" dirty="0"/>
          </a:p>
        </p:txBody>
      </p:sp>
      <p:sp>
        <p:nvSpPr>
          <p:cNvPr id="18" name="Responsibility card 4"/>
          <p:cNvSpPr/>
          <p:nvPr/>
        </p:nvSpPr>
        <p:spPr>
          <a:xfrm>
            <a:off x="4663440" y="2971800"/>
            <a:ext cx="4023360" cy="1508760"/>
          </a:xfrm>
          <a:prstGeom prst="roundRect">
            <a:avLst>
              <a:gd name="adj" fmla="val 6061"/>
            </a:avLst>
          </a:prstGeom>
          <a:solidFill>
            <a:schemeClr val="bg2"/>
          </a:solidFill>
          <a:ln/>
        </p:spPr>
      </p:sp>
      <p:sp>
        <p:nvSpPr>
          <p:cNvPr id="19" name="Validation &amp; maintenance circle"/>
          <p:cNvSpPr/>
          <p:nvPr/>
        </p:nvSpPr>
        <p:spPr>
          <a:xfrm>
            <a:off x="4892040" y="3337560"/>
            <a:ext cx="777240" cy="777240"/>
          </a:xfrm>
          <a:prstGeom prst="ellipse">
            <a:avLst/>
          </a:prstGeom>
          <a:solidFill>
            <a:schemeClr val="accent1"/>
          </a:solidFill>
          <a:ln/>
        </p:spPr>
      </p:sp>
      <p:pic>
        <p:nvPicPr>
          <p:cNvPr id="20" name="Validation &amp; maintenance icon" descr="Validation &amp; maintenance">    </p:cNvPr>
          <p:cNvPicPr>
            <a:picLocks noChangeAspect="1"/>
          </p:cNvPicPr>
          <p:nvPr/>
        </p:nvPicPr>
        <p:blipFill>
          <a:blip r:embed="rId4"/>
          <a:stretch>
            <a:fillRect/>
          </a:stretch>
        </p:blipFill>
        <p:spPr>
          <a:xfrm>
            <a:off x="5109667" y="3555187"/>
            <a:ext cx="341986" cy="341986"/>
          </a:xfrm>
          <a:prstGeom prst="rect">
            <a:avLst/>
          </a:prstGeom>
        </p:spPr>
      </p:pic>
      <p:sp>
        <p:nvSpPr>
          <p:cNvPr id="21" name="Responsibility title 4"/>
          <p:cNvSpPr txBox="1"/>
          <p:nvPr/>
        </p:nvSpPr>
        <p:spPr>
          <a:xfrm>
            <a:off x="5852160" y="3154680"/>
            <a:ext cx="2651760" cy="365760"/>
          </a:xfrm>
          <a:prstGeom prst="rect">
            <a:avLst/>
          </a:prstGeom>
          <a:noFill/>
          <a:ln/>
        </p:spPr>
        <p:txBody>
          <a:bodyPr wrap="square" lIns="0" tIns="0" rIns="0" bIns="0" rtlCol="0" anchor="t"/>
          <a:lstStyle/>
          <a:p>
            <a:pPr indent="0" marL="0">
              <a:buNone/>
            </a:pPr>
            <a:r>
              <a:rPr lang="en-US" sz="1800" b="1" dirty="0">
                <a:solidFill>
                  <a:schemeClr val="tx2"/>
                </a:solidFill>
              </a:rPr>
              <a:t>Validation &amp; maintenance</a:t>
            </a:r>
            <a:endParaRPr lang="en-US" sz="1800" dirty="0"/>
          </a:p>
        </p:txBody>
      </p:sp>
      <p:sp>
        <p:nvSpPr>
          <p:cNvPr id="22" name="Responsibility text 4"/>
          <p:cNvSpPr txBox="1"/>
          <p:nvPr/>
        </p:nvSpPr>
        <p:spPr>
          <a:xfrm>
            <a:off x="5852160" y="3566160"/>
            <a:ext cx="2651760" cy="822960"/>
          </a:xfrm>
          <a:prstGeom prst="rect">
            <a:avLst/>
          </a:prstGeom>
          <a:noFill/>
          <a:ln/>
        </p:spPr>
        <p:txBody>
          <a:bodyPr wrap="square" lIns="0" tIns="0" rIns="0" bIns="0" rtlCol="0" anchor="t"/>
          <a:lstStyle/>
          <a:p>
            <a:pPr indent="0" marL="0">
              <a:buNone/>
            </a:pPr>
            <a:r>
              <a:rPr lang="en-US" sz="1400" dirty="0">
                <a:solidFill>
                  <a:schemeClr val="tx1"/>
                </a:solidFill>
              </a:rPr>
              <a:t>Ensure the final build mirrors the initial blueprint.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400" b="1" dirty="0">
                <a:solidFill>
                  <a:schemeClr val="tx2"/>
                </a:solidFill>
              </a:rPr>
              <a:t>Requirement Gathering</a:t>
            </a:r>
            <a:endParaRPr lang="en-US" sz="3400" dirty="0"/>
          </a:p>
        </p:txBody>
      </p:sp>
      <p:sp>
        <p:nvSpPr>
          <p:cNvPr id="3" name="Method card 1"/>
          <p:cNvSpPr/>
          <p:nvPr/>
        </p:nvSpPr>
        <p:spPr>
          <a:xfrm>
            <a:off x="457200" y="1234440"/>
            <a:ext cx="1920240" cy="1783080"/>
          </a:xfrm>
          <a:prstGeom prst="roundRect">
            <a:avLst>
              <a:gd name="adj" fmla="val 5128"/>
            </a:avLst>
          </a:prstGeom>
          <a:solidFill>
            <a:schemeClr val="bg2"/>
          </a:solidFill>
          <a:ln/>
        </p:spPr>
      </p:sp>
      <p:sp>
        <p:nvSpPr>
          <p:cNvPr id="4" name="Interviews circle"/>
          <p:cNvSpPr/>
          <p:nvPr/>
        </p:nvSpPr>
        <p:spPr>
          <a:xfrm>
            <a:off x="640080" y="1371600"/>
            <a:ext cx="548640" cy="548640"/>
          </a:xfrm>
          <a:prstGeom prst="ellipse">
            <a:avLst/>
          </a:prstGeom>
          <a:solidFill>
            <a:schemeClr val="accent1"/>
          </a:solidFill>
          <a:ln/>
        </p:spPr>
      </p:sp>
      <p:pic>
        <p:nvPicPr>
          <p:cNvPr id="5" name="Interviews icon" descr="Interviews">    </p:cNvPr>
          <p:cNvPicPr>
            <a:picLocks noChangeAspect="1"/>
          </p:cNvPicPr>
          <p:nvPr/>
        </p:nvPicPr>
        <p:blipFill>
          <a:blip r:embed="rId1"/>
          <a:stretch>
            <a:fillRect/>
          </a:stretch>
        </p:blipFill>
        <p:spPr>
          <a:xfrm>
            <a:off x="793699" y="1525219"/>
            <a:ext cx="241402" cy="241402"/>
          </a:xfrm>
          <a:prstGeom prst="rect">
            <a:avLst/>
          </a:prstGeom>
        </p:spPr>
      </p:pic>
      <p:sp>
        <p:nvSpPr>
          <p:cNvPr id="6" name="Method title 1"/>
          <p:cNvSpPr txBox="1"/>
          <p:nvPr/>
        </p:nvSpPr>
        <p:spPr>
          <a:xfrm>
            <a:off x="640080" y="1993392"/>
            <a:ext cx="1600200" cy="274320"/>
          </a:xfrm>
          <a:prstGeom prst="rect">
            <a:avLst/>
          </a:prstGeom>
          <a:noFill/>
          <a:ln/>
        </p:spPr>
        <p:txBody>
          <a:bodyPr wrap="square" lIns="0" tIns="0" rIns="0" bIns="0" rtlCol="0" anchor="t"/>
          <a:lstStyle/>
          <a:p>
            <a:pPr indent="0" marL="0">
              <a:buNone/>
            </a:pPr>
            <a:r>
              <a:rPr lang="en-US" sz="1600" b="1" dirty="0">
                <a:solidFill>
                  <a:schemeClr val="tx2"/>
                </a:solidFill>
              </a:rPr>
              <a:t>Interviews</a:t>
            </a:r>
            <a:endParaRPr lang="en-US" sz="1600" dirty="0"/>
          </a:p>
        </p:txBody>
      </p:sp>
      <p:sp>
        <p:nvSpPr>
          <p:cNvPr id="7" name="Method text 1"/>
          <p:cNvSpPr txBox="1"/>
          <p:nvPr/>
        </p:nvSpPr>
        <p:spPr>
          <a:xfrm>
            <a:off x="640080" y="2286000"/>
            <a:ext cx="1600200" cy="685800"/>
          </a:xfrm>
          <a:prstGeom prst="rect">
            <a:avLst/>
          </a:prstGeom>
          <a:noFill/>
          <a:ln/>
        </p:spPr>
        <p:txBody>
          <a:bodyPr wrap="square" lIns="0" tIns="0" rIns="0" bIns="0" rtlCol="0" anchor="t"/>
          <a:lstStyle/>
          <a:p>
            <a:pPr indent="0" marL="0">
              <a:buNone/>
            </a:pPr>
            <a:r>
              <a:rPr lang="en-US" sz="1400" dirty="0">
                <a:solidFill>
                  <a:schemeClr val="tx1"/>
                </a:solidFill>
              </a:rPr>
              <a:t>Ask users directly what they need.</a:t>
            </a:r>
            <a:endParaRPr lang="en-US" sz="1400" dirty="0"/>
          </a:p>
        </p:txBody>
      </p:sp>
      <p:sp>
        <p:nvSpPr>
          <p:cNvPr id="8" name="Method card 2"/>
          <p:cNvSpPr/>
          <p:nvPr/>
        </p:nvSpPr>
        <p:spPr>
          <a:xfrm>
            <a:off x="2560320" y="1234440"/>
            <a:ext cx="1920240" cy="1783080"/>
          </a:xfrm>
          <a:prstGeom prst="roundRect">
            <a:avLst>
              <a:gd name="adj" fmla="val 5128"/>
            </a:avLst>
          </a:prstGeom>
          <a:solidFill>
            <a:schemeClr val="bg2"/>
          </a:solidFill>
          <a:ln/>
        </p:spPr>
      </p:sp>
      <p:sp>
        <p:nvSpPr>
          <p:cNvPr id="9" name="Observation circle"/>
          <p:cNvSpPr/>
          <p:nvPr/>
        </p:nvSpPr>
        <p:spPr>
          <a:xfrm>
            <a:off x="2743200" y="1371600"/>
            <a:ext cx="548640" cy="548640"/>
          </a:xfrm>
          <a:prstGeom prst="ellipse">
            <a:avLst/>
          </a:prstGeom>
          <a:solidFill>
            <a:schemeClr val="accent1"/>
          </a:solidFill>
          <a:ln/>
        </p:spPr>
      </p:sp>
      <p:pic>
        <p:nvPicPr>
          <p:cNvPr id="10" name="Observation icon" descr="Observation">    </p:cNvPr>
          <p:cNvPicPr>
            <a:picLocks noChangeAspect="1"/>
          </p:cNvPicPr>
          <p:nvPr/>
        </p:nvPicPr>
        <p:blipFill>
          <a:blip r:embed="rId2"/>
          <a:stretch>
            <a:fillRect/>
          </a:stretch>
        </p:blipFill>
        <p:spPr>
          <a:xfrm>
            <a:off x="2896819" y="1525219"/>
            <a:ext cx="241402" cy="241402"/>
          </a:xfrm>
          <a:prstGeom prst="rect">
            <a:avLst/>
          </a:prstGeom>
        </p:spPr>
      </p:pic>
      <p:sp>
        <p:nvSpPr>
          <p:cNvPr id="11" name="Method title 2"/>
          <p:cNvSpPr txBox="1"/>
          <p:nvPr/>
        </p:nvSpPr>
        <p:spPr>
          <a:xfrm>
            <a:off x="2743200" y="1993392"/>
            <a:ext cx="1600200" cy="274320"/>
          </a:xfrm>
          <a:prstGeom prst="rect">
            <a:avLst/>
          </a:prstGeom>
          <a:noFill/>
          <a:ln/>
        </p:spPr>
        <p:txBody>
          <a:bodyPr wrap="square" lIns="0" tIns="0" rIns="0" bIns="0" rtlCol="0" anchor="t"/>
          <a:lstStyle/>
          <a:p>
            <a:pPr indent="0" marL="0">
              <a:buNone/>
            </a:pPr>
            <a:r>
              <a:rPr lang="en-US" sz="1600" b="1" dirty="0">
                <a:solidFill>
                  <a:schemeClr val="tx2"/>
                </a:solidFill>
              </a:rPr>
              <a:t>Observation</a:t>
            </a:r>
            <a:endParaRPr lang="en-US" sz="1600" dirty="0"/>
          </a:p>
        </p:txBody>
      </p:sp>
      <p:sp>
        <p:nvSpPr>
          <p:cNvPr id="12" name="Method text 2"/>
          <p:cNvSpPr txBox="1"/>
          <p:nvPr/>
        </p:nvSpPr>
        <p:spPr>
          <a:xfrm>
            <a:off x="2743200" y="2286000"/>
            <a:ext cx="1600200" cy="685800"/>
          </a:xfrm>
          <a:prstGeom prst="rect">
            <a:avLst/>
          </a:prstGeom>
          <a:noFill/>
          <a:ln/>
        </p:spPr>
        <p:txBody>
          <a:bodyPr wrap="square" lIns="0" tIns="0" rIns="0" bIns="0" rtlCol="0" anchor="t"/>
          <a:lstStyle/>
          <a:p>
            <a:pPr indent="0" marL="0">
              <a:buNone/>
            </a:pPr>
            <a:r>
              <a:rPr lang="en-US" sz="1400" dirty="0">
                <a:solidFill>
                  <a:schemeClr val="tx1"/>
                </a:solidFill>
              </a:rPr>
              <a:t>Watch how work is really done.</a:t>
            </a:r>
            <a:endParaRPr lang="en-US" sz="1400" dirty="0"/>
          </a:p>
        </p:txBody>
      </p:sp>
      <p:sp>
        <p:nvSpPr>
          <p:cNvPr id="13" name="Method card 3"/>
          <p:cNvSpPr/>
          <p:nvPr/>
        </p:nvSpPr>
        <p:spPr>
          <a:xfrm>
            <a:off x="4663440" y="1234440"/>
            <a:ext cx="1920240" cy="1783080"/>
          </a:xfrm>
          <a:prstGeom prst="roundRect">
            <a:avLst>
              <a:gd name="adj" fmla="val 5128"/>
            </a:avLst>
          </a:prstGeom>
          <a:solidFill>
            <a:schemeClr val="bg2"/>
          </a:solidFill>
          <a:ln/>
        </p:spPr>
      </p:sp>
      <p:sp>
        <p:nvSpPr>
          <p:cNvPr id="14" name="Questionnaires circle"/>
          <p:cNvSpPr/>
          <p:nvPr/>
        </p:nvSpPr>
        <p:spPr>
          <a:xfrm>
            <a:off x="4846320" y="1371600"/>
            <a:ext cx="548640" cy="548640"/>
          </a:xfrm>
          <a:prstGeom prst="ellipse">
            <a:avLst/>
          </a:prstGeom>
          <a:solidFill>
            <a:schemeClr val="accent1"/>
          </a:solidFill>
          <a:ln/>
        </p:spPr>
      </p:sp>
      <p:pic>
        <p:nvPicPr>
          <p:cNvPr id="15" name="Questionnaires icon" descr="Questionnaires">    </p:cNvPr>
          <p:cNvPicPr>
            <a:picLocks noChangeAspect="1"/>
          </p:cNvPicPr>
          <p:nvPr/>
        </p:nvPicPr>
        <p:blipFill>
          <a:blip r:embed="rId3"/>
          <a:stretch>
            <a:fillRect/>
          </a:stretch>
        </p:blipFill>
        <p:spPr>
          <a:xfrm>
            <a:off x="4999939" y="1525219"/>
            <a:ext cx="241402" cy="241402"/>
          </a:xfrm>
          <a:prstGeom prst="rect">
            <a:avLst/>
          </a:prstGeom>
        </p:spPr>
      </p:pic>
      <p:sp>
        <p:nvSpPr>
          <p:cNvPr id="16" name="Method title 3"/>
          <p:cNvSpPr txBox="1"/>
          <p:nvPr/>
        </p:nvSpPr>
        <p:spPr>
          <a:xfrm>
            <a:off x="4846320" y="1993392"/>
            <a:ext cx="1600200" cy="274320"/>
          </a:xfrm>
          <a:prstGeom prst="rect">
            <a:avLst/>
          </a:prstGeom>
          <a:noFill/>
          <a:ln/>
        </p:spPr>
        <p:txBody>
          <a:bodyPr wrap="square" lIns="0" tIns="0" rIns="0" bIns="0" rtlCol="0" anchor="t"/>
          <a:lstStyle/>
          <a:p>
            <a:pPr indent="0" marL="0">
              <a:buNone/>
            </a:pPr>
            <a:r>
              <a:rPr lang="en-US" sz="1600" b="1" dirty="0">
                <a:solidFill>
                  <a:schemeClr val="tx2"/>
                </a:solidFill>
              </a:rPr>
              <a:t>Questionnaires</a:t>
            </a:r>
            <a:endParaRPr lang="en-US" sz="1600" dirty="0"/>
          </a:p>
        </p:txBody>
      </p:sp>
      <p:sp>
        <p:nvSpPr>
          <p:cNvPr id="17" name="Method text 3"/>
          <p:cNvSpPr txBox="1"/>
          <p:nvPr/>
        </p:nvSpPr>
        <p:spPr>
          <a:xfrm>
            <a:off x="4846320" y="2286000"/>
            <a:ext cx="1600200" cy="685800"/>
          </a:xfrm>
          <a:prstGeom prst="rect">
            <a:avLst/>
          </a:prstGeom>
          <a:noFill/>
          <a:ln/>
        </p:spPr>
        <p:txBody>
          <a:bodyPr wrap="square" lIns="0" tIns="0" rIns="0" bIns="0" rtlCol="0" anchor="t"/>
          <a:lstStyle/>
          <a:p>
            <a:pPr indent="0" marL="0">
              <a:buNone/>
            </a:pPr>
            <a:r>
              <a:rPr lang="en-US" sz="1400" dirty="0">
                <a:solidFill>
                  <a:schemeClr val="tx1"/>
                </a:solidFill>
              </a:rPr>
              <a:t>Reach many users quickly.</a:t>
            </a:r>
            <a:endParaRPr lang="en-US" sz="1400" dirty="0"/>
          </a:p>
        </p:txBody>
      </p:sp>
      <p:sp>
        <p:nvSpPr>
          <p:cNvPr id="18" name="Method card 4"/>
          <p:cNvSpPr/>
          <p:nvPr/>
        </p:nvSpPr>
        <p:spPr>
          <a:xfrm>
            <a:off x="6766560" y="1234440"/>
            <a:ext cx="1920240" cy="1783080"/>
          </a:xfrm>
          <a:prstGeom prst="roundRect">
            <a:avLst>
              <a:gd name="adj" fmla="val 5128"/>
            </a:avLst>
          </a:prstGeom>
          <a:solidFill>
            <a:schemeClr val="bg2"/>
          </a:solidFill>
          <a:ln/>
        </p:spPr>
      </p:sp>
      <p:sp>
        <p:nvSpPr>
          <p:cNvPr id="19" name="Document review circle"/>
          <p:cNvSpPr/>
          <p:nvPr/>
        </p:nvSpPr>
        <p:spPr>
          <a:xfrm>
            <a:off x="6949440" y="1371600"/>
            <a:ext cx="548640" cy="548640"/>
          </a:xfrm>
          <a:prstGeom prst="ellipse">
            <a:avLst/>
          </a:prstGeom>
          <a:solidFill>
            <a:schemeClr val="accent1"/>
          </a:solidFill>
          <a:ln/>
        </p:spPr>
      </p:sp>
      <p:pic>
        <p:nvPicPr>
          <p:cNvPr id="20" name="Document review icon" descr="Document review">    </p:cNvPr>
          <p:cNvPicPr>
            <a:picLocks noChangeAspect="1"/>
          </p:cNvPicPr>
          <p:nvPr/>
        </p:nvPicPr>
        <p:blipFill>
          <a:blip r:embed="rId4"/>
          <a:stretch>
            <a:fillRect/>
          </a:stretch>
        </p:blipFill>
        <p:spPr>
          <a:xfrm>
            <a:off x="7103059" y="1525219"/>
            <a:ext cx="241402" cy="241402"/>
          </a:xfrm>
          <a:prstGeom prst="rect">
            <a:avLst/>
          </a:prstGeom>
        </p:spPr>
      </p:pic>
      <p:sp>
        <p:nvSpPr>
          <p:cNvPr id="21" name="Method title 4"/>
          <p:cNvSpPr txBox="1"/>
          <p:nvPr/>
        </p:nvSpPr>
        <p:spPr>
          <a:xfrm>
            <a:off x="6949440" y="1993392"/>
            <a:ext cx="1600200" cy="274320"/>
          </a:xfrm>
          <a:prstGeom prst="rect">
            <a:avLst/>
          </a:prstGeom>
          <a:noFill/>
          <a:ln/>
        </p:spPr>
        <p:txBody>
          <a:bodyPr wrap="square" lIns="0" tIns="0" rIns="0" bIns="0" rtlCol="0" anchor="t"/>
          <a:lstStyle/>
          <a:p>
            <a:pPr indent="0" marL="0">
              <a:buNone/>
            </a:pPr>
            <a:r>
              <a:rPr lang="en-US" sz="1600" b="1" dirty="0">
                <a:solidFill>
                  <a:schemeClr val="tx2"/>
                </a:solidFill>
              </a:rPr>
              <a:t>Document review</a:t>
            </a:r>
            <a:endParaRPr lang="en-US" sz="1600" dirty="0"/>
          </a:p>
        </p:txBody>
      </p:sp>
      <p:sp>
        <p:nvSpPr>
          <p:cNvPr id="22" name="Method text 4"/>
          <p:cNvSpPr txBox="1"/>
          <p:nvPr/>
        </p:nvSpPr>
        <p:spPr>
          <a:xfrm>
            <a:off x="6949440" y="2286000"/>
            <a:ext cx="1600200" cy="685800"/>
          </a:xfrm>
          <a:prstGeom prst="rect">
            <a:avLst/>
          </a:prstGeom>
          <a:noFill/>
          <a:ln/>
        </p:spPr>
        <p:txBody>
          <a:bodyPr wrap="square" lIns="0" tIns="0" rIns="0" bIns="0" rtlCol="0" anchor="t"/>
          <a:lstStyle/>
          <a:p>
            <a:pPr indent="0" marL="0">
              <a:buNone/>
            </a:pPr>
            <a:r>
              <a:rPr lang="en-US" sz="1400" dirty="0">
                <a:solidFill>
                  <a:schemeClr val="tx1"/>
                </a:solidFill>
              </a:rPr>
              <a:t>Study existing forms and reports.</a:t>
            </a:r>
            <a:endParaRPr lang="en-US" sz="1400" dirty="0"/>
          </a:p>
        </p:txBody>
      </p:sp>
      <p:sp>
        <p:nvSpPr>
          <p:cNvPr id="23" name="Gathering example"/>
          <p:cNvSpPr txBox="1"/>
          <p:nvPr/>
        </p:nvSpPr>
        <p:spPr>
          <a:xfrm>
            <a:off x="457200" y="3200400"/>
            <a:ext cx="8229600" cy="685800"/>
          </a:xfrm>
          <a:prstGeom prst="rect">
            <a:avLst/>
          </a:prstGeom>
          <a:noFill/>
          <a:ln/>
        </p:spPr>
        <p:txBody>
          <a:bodyPr wrap="square" lIns="0" tIns="0" rIns="0" bIns="0" rtlCol="0" anchor="t"/>
          <a:lstStyle/>
          <a:p>
            <a:pPr indent="0" marL="0">
              <a:buNone/>
            </a:pPr>
            <a:r>
              <a:rPr lang="en-US" sz="1400" i="1" dirty="0">
                <a:solidFill>
                  <a:schemeClr val="accent1"/>
                </a:solidFill>
              </a:rPr>
              <a:t>Example: for a university library system, the analyst interviews librarians, watches how books are checked out, and surveys students about how they search for books.</a:t>
            </a:r>
            <a:endParaRPr lang="en-US" sz="1400" dirty="0"/>
          </a:p>
        </p:txBody>
      </p:sp>
      <p:sp>
        <p:nvSpPr>
          <p:cNvPr id="24" name="Result banner"/>
          <p:cNvSpPr/>
          <p:nvPr/>
        </p:nvSpPr>
        <p:spPr>
          <a:xfrm>
            <a:off x="457200" y="4023360"/>
            <a:ext cx="8229600" cy="640080"/>
          </a:xfrm>
          <a:prstGeom prst="roundRect">
            <a:avLst>
              <a:gd name="adj" fmla="val 14286"/>
            </a:avLst>
          </a:prstGeom>
          <a:solidFill>
            <a:schemeClr val="accent2"/>
          </a:solidFill>
          <a:ln/>
        </p:spPr>
      </p:sp>
      <p:sp>
        <p:nvSpPr>
          <p:cNvPr id="25" name="Result text"/>
          <p:cNvSpPr txBox="1"/>
          <p:nvPr/>
        </p:nvSpPr>
        <p:spPr>
          <a:xfrm>
            <a:off x="640080" y="4023360"/>
            <a:ext cx="7863840" cy="640080"/>
          </a:xfrm>
          <a:prstGeom prst="rect">
            <a:avLst/>
          </a:prstGeom>
          <a:noFill/>
          <a:ln/>
        </p:spPr>
        <p:txBody>
          <a:bodyPr wrap="square" lIns="0" tIns="0" rIns="0" bIns="0" rtlCol="0" anchor="ctr"/>
          <a:lstStyle/>
          <a:p>
            <a:pPr indent="0" marL="0">
              <a:buNone/>
            </a:pPr>
            <a:r>
              <a:rPr lang="en-US" sz="1600" b="1" dirty="0">
                <a:solidFill>
                  <a:schemeClr val="bg1"/>
                </a:solidFill>
              </a:rPr>
              <a:t>Result: functional documentation of what stakeholders need, approved before design begins.</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400" b="1" dirty="0">
                <a:solidFill>
                  <a:schemeClr val="tx2"/>
                </a:solidFill>
              </a:rPr>
              <a:t>What Is the SDLC?</a:t>
            </a:r>
            <a:endParaRPr lang="en-US" sz="3400" dirty="0"/>
          </a:p>
        </p:txBody>
      </p:sp>
      <p:sp>
        <p:nvSpPr>
          <p:cNvPr id="3" name="SDLC definition"/>
          <p:cNvSpPr txBox="1"/>
          <p:nvPr/>
        </p:nvSpPr>
        <p:spPr>
          <a:xfrm>
            <a:off x="457200" y="1188720"/>
            <a:ext cx="8229600" cy="731520"/>
          </a:xfrm>
          <a:prstGeom prst="rect">
            <a:avLst/>
          </a:prstGeom>
          <a:noFill/>
          <a:ln/>
        </p:spPr>
        <p:txBody>
          <a:bodyPr wrap="square" lIns="0" tIns="0" rIns="0" bIns="0" rtlCol="0" anchor="t"/>
          <a:lstStyle/>
          <a:p>
            <a:pPr indent="0" marL="0">
              <a:buNone/>
            </a:pPr>
            <a:r>
              <a:rPr lang="en-US" sz="1600" dirty="0">
                <a:solidFill>
                  <a:schemeClr val="tx1"/>
                </a:solidFill>
              </a:rPr>
              <a:t>The Software Development Life Cycle is the structured framework that takes a system through analysis, design, and implementation. The chapter presents five SDLC models:</a:t>
            </a:r>
            <a:endParaRPr lang="en-US" sz="1600" dirty="0"/>
          </a:p>
        </p:txBody>
      </p:sp>
      <p:sp>
        <p:nvSpPr>
          <p:cNvPr id="4" name="Phase connector"/>
          <p:cNvSpPr/>
          <p:nvPr/>
        </p:nvSpPr>
        <p:spPr>
          <a:xfrm>
            <a:off x="1188720" y="2697480"/>
            <a:ext cx="6766560" cy="0"/>
          </a:xfrm>
          <a:prstGeom prst="line">
            <a:avLst/>
          </a:prstGeom>
          <a:noFill/>
          <a:ln w="38100">
            <a:solidFill>
              <a:schemeClr val="accent3"/>
            </a:solidFill>
            <a:prstDash val="solid"/>
          </a:ln>
        </p:spPr>
      </p:sp>
      <p:sp>
        <p:nvSpPr>
          <p:cNvPr id="5" name="Phase circle 1"/>
          <p:cNvSpPr/>
          <p:nvPr/>
        </p:nvSpPr>
        <p:spPr>
          <a:xfrm>
            <a:off x="777240" y="2286000"/>
            <a:ext cx="822960" cy="822960"/>
          </a:xfrm>
          <a:prstGeom prst="ellipse">
            <a:avLst/>
          </a:prstGeom>
          <a:solidFill>
            <a:schemeClr val="accent1"/>
          </a:solidFill>
          <a:ln/>
        </p:spPr>
      </p:sp>
      <p:sp>
        <p:nvSpPr>
          <p:cNvPr id="6" name="Phase number 1"/>
          <p:cNvSpPr txBox="1"/>
          <p:nvPr/>
        </p:nvSpPr>
        <p:spPr>
          <a:xfrm>
            <a:off x="777240" y="228600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7" name="Phase title 1"/>
          <p:cNvSpPr txBox="1"/>
          <p:nvPr/>
        </p:nvSpPr>
        <p:spPr>
          <a:xfrm>
            <a:off x="411480" y="3291840"/>
            <a:ext cx="1554480" cy="320040"/>
          </a:xfrm>
          <a:prstGeom prst="rect">
            <a:avLst/>
          </a:prstGeom>
          <a:noFill/>
          <a:ln/>
        </p:spPr>
        <p:txBody>
          <a:bodyPr wrap="square" lIns="0" tIns="0" rIns="0" bIns="0" rtlCol="0" anchor="t"/>
          <a:lstStyle/>
          <a:p>
            <a:pPr algn="ctr" indent="0" marL="0">
              <a:buNone/>
            </a:pPr>
            <a:r>
              <a:rPr lang="en-US" sz="1600" b="1" dirty="0">
                <a:solidFill>
                  <a:schemeClr val="tx2"/>
                </a:solidFill>
              </a:rPr>
              <a:t>Waterfall</a:t>
            </a:r>
            <a:endParaRPr lang="en-US" sz="1600" dirty="0"/>
          </a:p>
        </p:txBody>
      </p:sp>
      <p:sp>
        <p:nvSpPr>
          <p:cNvPr id="8" name="Phase text 1"/>
          <p:cNvSpPr txBox="1"/>
          <p:nvPr/>
        </p:nvSpPr>
        <p:spPr>
          <a:xfrm>
            <a:off x="457200" y="3639312"/>
            <a:ext cx="1463040" cy="1005840"/>
          </a:xfrm>
          <a:prstGeom prst="rect">
            <a:avLst/>
          </a:prstGeom>
          <a:noFill/>
          <a:ln/>
        </p:spPr>
        <p:txBody>
          <a:bodyPr wrap="square" lIns="0" tIns="0" rIns="0" bIns="0" rtlCol="0" anchor="t"/>
          <a:lstStyle/>
          <a:p>
            <a:pPr algn="ctr" indent="0" marL="0">
              <a:buNone/>
            </a:pPr>
            <a:r>
              <a:rPr lang="en-US" sz="1400" dirty="0">
                <a:solidFill>
                  <a:schemeClr val="tx1"/>
                </a:solidFill>
              </a:rPr>
              <a:t>Linear and sequential; each phase is completed before the next</a:t>
            </a:r>
            <a:endParaRPr lang="en-US" sz="1400" dirty="0"/>
          </a:p>
        </p:txBody>
      </p:sp>
      <p:sp>
        <p:nvSpPr>
          <p:cNvPr id="9" name="Phase circle 2"/>
          <p:cNvSpPr/>
          <p:nvPr/>
        </p:nvSpPr>
        <p:spPr>
          <a:xfrm>
            <a:off x="2468880" y="2286000"/>
            <a:ext cx="822960" cy="822960"/>
          </a:xfrm>
          <a:prstGeom prst="ellipse">
            <a:avLst/>
          </a:prstGeom>
          <a:solidFill>
            <a:schemeClr val="accent1"/>
          </a:solidFill>
          <a:ln/>
        </p:spPr>
      </p:sp>
      <p:sp>
        <p:nvSpPr>
          <p:cNvPr id="10" name="Phase number 2"/>
          <p:cNvSpPr txBox="1"/>
          <p:nvPr/>
        </p:nvSpPr>
        <p:spPr>
          <a:xfrm>
            <a:off x="2468880" y="228600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1" name="Phase title 2"/>
          <p:cNvSpPr txBox="1"/>
          <p:nvPr/>
        </p:nvSpPr>
        <p:spPr>
          <a:xfrm>
            <a:off x="2103120" y="3291840"/>
            <a:ext cx="1554480" cy="320040"/>
          </a:xfrm>
          <a:prstGeom prst="rect">
            <a:avLst/>
          </a:prstGeom>
          <a:noFill/>
          <a:ln/>
        </p:spPr>
        <p:txBody>
          <a:bodyPr wrap="square" lIns="0" tIns="0" rIns="0" bIns="0" rtlCol="0" anchor="t"/>
          <a:lstStyle/>
          <a:p>
            <a:pPr algn="ctr" indent="0" marL="0">
              <a:buNone/>
            </a:pPr>
            <a:r>
              <a:rPr lang="en-US" sz="1600" b="1" dirty="0">
                <a:solidFill>
                  <a:schemeClr val="tx2"/>
                </a:solidFill>
              </a:rPr>
              <a:t>Iterative</a:t>
            </a:r>
            <a:endParaRPr lang="en-US" sz="1600" dirty="0"/>
          </a:p>
        </p:txBody>
      </p:sp>
      <p:sp>
        <p:nvSpPr>
          <p:cNvPr id="12" name="Phase text 2"/>
          <p:cNvSpPr txBox="1"/>
          <p:nvPr/>
        </p:nvSpPr>
        <p:spPr>
          <a:xfrm>
            <a:off x="2148840" y="3639312"/>
            <a:ext cx="1463040" cy="1005840"/>
          </a:xfrm>
          <a:prstGeom prst="rect">
            <a:avLst/>
          </a:prstGeom>
          <a:noFill/>
          <a:ln/>
        </p:spPr>
        <p:txBody>
          <a:bodyPr wrap="square" lIns="0" tIns="0" rIns="0" bIns="0" rtlCol="0" anchor="t"/>
          <a:lstStyle/>
          <a:p>
            <a:pPr algn="ctr" indent="0" marL="0">
              <a:buNone/>
            </a:pPr>
            <a:r>
              <a:rPr lang="en-US" sz="1400" dirty="0">
                <a:solidFill>
                  <a:schemeClr val="tx1"/>
                </a:solidFill>
              </a:rPr>
              <a:t>Cyclic; each rotation produces a working, testable version</a:t>
            </a:r>
            <a:endParaRPr lang="en-US" sz="1400" dirty="0"/>
          </a:p>
        </p:txBody>
      </p:sp>
      <p:sp>
        <p:nvSpPr>
          <p:cNvPr id="13" name="Phase circle 3"/>
          <p:cNvSpPr/>
          <p:nvPr/>
        </p:nvSpPr>
        <p:spPr>
          <a:xfrm>
            <a:off x="4160520" y="2286000"/>
            <a:ext cx="822960" cy="822960"/>
          </a:xfrm>
          <a:prstGeom prst="ellipse">
            <a:avLst/>
          </a:prstGeom>
          <a:solidFill>
            <a:schemeClr val="accent1"/>
          </a:solidFill>
          <a:ln/>
        </p:spPr>
      </p:sp>
      <p:sp>
        <p:nvSpPr>
          <p:cNvPr id="14" name="Phase number 3"/>
          <p:cNvSpPr txBox="1"/>
          <p:nvPr/>
        </p:nvSpPr>
        <p:spPr>
          <a:xfrm>
            <a:off x="4160520" y="228600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5" name="Phase title 3"/>
          <p:cNvSpPr txBox="1"/>
          <p:nvPr/>
        </p:nvSpPr>
        <p:spPr>
          <a:xfrm>
            <a:off x="3794760" y="3291840"/>
            <a:ext cx="1554480" cy="320040"/>
          </a:xfrm>
          <a:prstGeom prst="rect">
            <a:avLst/>
          </a:prstGeom>
          <a:noFill/>
          <a:ln/>
        </p:spPr>
        <p:txBody>
          <a:bodyPr wrap="square" lIns="0" tIns="0" rIns="0" bIns="0" rtlCol="0" anchor="t"/>
          <a:lstStyle/>
          <a:p>
            <a:pPr algn="ctr" indent="0" marL="0">
              <a:buNone/>
            </a:pPr>
            <a:r>
              <a:rPr lang="en-US" sz="1600" b="1" dirty="0">
                <a:solidFill>
                  <a:schemeClr val="tx2"/>
                </a:solidFill>
              </a:rPr>
              <a:t>Spiral</a:t>
            </a:r>
            <a:endParaRPr lang="en-US" sz="1600" dirty="0"/>
          </a:p>
        </p:txBody>
      </p:sp>
      <p:sp>
        <p:nvSpPr>
          <p:cNvPr id="16" name="Phase text 3"/>
          <p:cNvSpPr txBox="1"/>
          <p:nvPr/>
        </p:nvSpPr>
        <p:spPr>
          <a:xfrm>
            <a:off x="3840480" y="3639312"/>
            <a:ext cx="1463040" cy="1005840"/>
          </a:xfrm>
          <a:prstGeom prst="rect">
            <a:avLst/>
          </a:prstGeom>
          <a:noFill/>
          <a:ln/>
        </p:spPr>
        <p:txBody>
          <a:bodyPr wrap="square" lIns="0" tIns="0" rIns="0" bIns="0" rtlCol="0" anchor="t"/>
          <a:lstStyle/>
          <a:p>
            <a:pPr algn="ctr" indent="0" marL="0">
              <a:buNone/>
            </a:pPr>
            <a:r>
              <a:rPr lang="en-US" sz="1400" dirty="0">
                <a:solidFill>
                  <a:schemeClr val="tx1"/>
                </a:solidFill>
              </a:rPr>
              <a:t>Iteration plus risk analysis for each release</a:t>
            </a:r>
            <a:endParaRPr lang="en-US" sz="1400" dirty="0"/>
          </a:p>
        </p:txBody>
      </p:sp>
      <p:sp>
        <p:nvSpPr>
          <p:cNvPr id="17" name="Phase circle 4"/>
          <p:cNvSpPr/>
          <p:nvPr/>
        </p:nvSpPr>
        <p:spPr>
          <a:xfrm>
            <a:off x="5852160" y="2286000"/>
            <a:ext cx="822960" cy="822960"/>
          </a:xfrm>
          <a:prstGeom prst="ellipse">
            <a:avLst/>
          </a:prstGeom>
          <a:solidFill>
            <a:schemeClr val="accent1"/>
          </a:solidFill>
          <a:ln/>
        </p:spPr>
      </p:sp>
      <p:sp>
        <p:nvSpPr>
          <p:cNvPr id="18" name="Phase number 4"/>
          <p:cNvSpPr txBox="1"/>
          <p:nvPr/>
        </p:nvSpPr>
        <p:spPr>
          <a:xfrm>
            <a:off x="5852160" y="228600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19" name="Phase title 4"/>
          <p:cNvSpPr txBox="1"/>
          <p:nvPr/>
        </p:nvSpPr>
        <p:spPr>
          <a:xfrm>
            <a:off x="5486400" y="3291840"/>
            <a:ext cx="1554480" cy="320040"/>
          </a:xfrm>
          <a:prstGeom prst="rect">
            <a:avLst/>
          </a:prstGeom>
          <a:noFill/>
          <a:ln/>
        </p:spPr>
        <p:txBody>
          <a:bodyPr wrap="square" lIns="0" tIns="0" rIns="0" bIns="0" rtlCol="0" anchor="t"/>
          <a:lstStyle/>
          <a:p>
            <a:pPr algn="ctr" indent="0" marL="0">
              <a:buNone/>
            </a:pPr>
            <a:r>
              <a:rPr lang="en-US" sz="1600" b="1" dirty="0">
                <a:solidFill>
                  <a:schemeClr val="tx2"/>
                </a:solidFill>
              </a:rPr>
              <a:t>V-Model</a:t>
            </a:r>
            <a:endParaRPr lang="en-US" sz="1600" dirty="0"/>
          </a:p>
        </p:txBody>
      </p:sp>
      <p:sp>
        <p:nvSpPr>
          <p:cNvPr id="20" name="Phase text 4"/>
          <p:cNvSpPr txBox="1"/>
          <p:nvPr/>
        </p:nvSpPr>
        <p:spPr>
          <a:xfrm>
            <a:off x="5532120" y="3639312"/>
            <a:ext cx="1463040" cy="1005840"/>
          </a:xfrm>
          <a:prstGeom prst="rect">
            <a:avLst/>
          </a:prstGeom>
          <a:noFill/>
          <a:ln/>
        </p:spPr>
        <p:txBody>
          <a:bodyPr wrap="square" lIns="0" tIns="0" rIns="0" bIns="0" rtlCol="0" anchor="t"/>
          <a:lstStyle/>
          <a:p>
            <a:pPr algn="ctr" indent="0" marL="0">
              <a:buNone/>
            </a:pPr>
            <a:r>
              <a:rPr lang="en-US" sz="1400" dirty="0">
                <a:solidFill>
                  <a:schemeClr val="tx1"/>
                </a:solidFill>
              </a:rPr>
              <a:t>Every development phase is paired with a testing phase</a:t>
            </a:r>
            <a:endParaRPr lang="en-US" sz="1400" dirty="0"/>
          </a:p>
        </p:txBody>
      </p:sp>
      <p:sp>
        <p:nvSpPr>
          <p:cNvPr id="21" name="Phase circle 5"/>
          <p:cNvSpPr/>
          <p:nvPr/>
        </p:nvSpPr>
        <p:spPr>
          <a:xfrm>
            <a:off x="7543800" y="2286000"/>
            <a:ext cx="822960" cy="822960"/>
          </a:xfrm>
          <a:prstGeom prst="ellipse">
            <a:avLst/>
          </a:prstGeom>
          <a:solidFill>
            <a:schemeClr val="accent2"/>
          </a:solidFill>
          <a:ln/>
        </p:spPr>
      </p:sp>
      <p:sp>
        <p:nvSpPr>
          <p:cNvPr id="22" name="Phase number 5"/>
          <p:cNvSpPr txBox="1"/>
          <p:nvPr/>
        </p:nvSpPr>
        <p:spPr>
          <a:xfrm>
            <a:off x="7543800" y="228600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23" name="Phase title 5"/>
          <p:cNvSpPr txBox="1"/>
          <p:nvPr/>
        </p:nvSpPr>
        <p:spPr>
          <a:xfrm>
            <a:off x="7178040" y="3291840"/>
            <a:ext cx="1554480" cy="320040"/>
          </a:xfrm>
          <a:prstGeom prst="rect">
            <a:avLst/>
          </a:prstGeom>
          <a:noFill/>
          <a:ln/>
        </p:spPr>
        <p:txBody>
          <a:bodyPr wrap="square" lIns="0" tIns="0" rIns="0" bIns="0" rtlCol="0" anchor="t"/>
          <a:lstStyle/>
          <a:p>
            <a:pPr algn="ctr" indent="0" marL="0">
              <a:buNone/>
            </a:pPr>
            <a:r>
              <a:rPr lang="en-US" sz="1600" b="1" dirty="0">
                <a:solidFill>
                  <a:schemeClr val="tx2"/>
                </a:solidFill>
              </a:rPr>
              <a:t>Agile</a:t>
            </a:r>
            <a:endParaRPr lang="en-US" sz="1600" dirty="0"/>
          </a:p>
        </p:txBody>
      </p:sp>
      <p:sp>
        <p:nvSpPr>
          <p:cNvPr id="24" name="Phase text 5"/>
          <p:cNvSpPr txBox="1"/>
          <p:nvPr/>
        </p:nvSpPr>
        <p:spPr>
          <a:xfrm>
            <a:off x="7223760" y="3639312"/>
            <a:ext cx="1463040" cy="1005840"/>
          </a:xfrm>
          <a:prstGeom prst="rect">
            <a:avLst/>
          </a:prstGeom>
          <a:noFill/>
          <a:ln/>
        </p:spPr>
        <p:txBody>
          <a:bodyPr wrap="square" lIns="0" tIns="0" rIns="0" bIns="0" rtlCol="0" anchor="t"/>
          <a:lstStyle/>
          <a:p>
            <a:pPr algn="ctr" indent="0" marL="0">
              <a:buNone/>
            </a:pPr>
            <a:r>
              <a:rPr lang="en-US" sz="1400" dirty="0">
                <a:solidFill>
                  <a:schemeClr val="tx1"/>
                </a:solidFill>
              </a:rPr>
              <a:t>Flexible; rapid feedback and incremental delivery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400" b="1" dirty="0">
                <a:solidFill>
                  <a:schemeClr val="tx2"/>
                </a:solidFill>
              </a:rPr>
              <a:t>SDLC vs Agile</a:t>
            </a:r>
            <a:endParaRPr lang="en-US" sz="3400" dirty="0"/>
          </a:p>
        </p:txBody>
      </p:sp>
      <p:graphicFrame>
        <p:nvGraphicFramePr>
          <p:cNvPr id="10" name="Comparison table"/>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737360"/>
                <a:gridCol w="3200400"/>
                <a:gridCol w="3291840"/>
              </a:tblGrid>
              <a:tr h="457200">
                <a:tc>
                  <a:txBody>
                    <a:bodyPr/>
                    <a:lstStyle/>
                    <a:p>
                      <a:pPr indent="0" marL="0">
                        <a:buNone/>
                      </a:pPr>
                      <a:r>
                        <a:rPr lang="en-US" sz="1600" b="1" dirty="0">
                          <a:solidFill>
                            <a:schemeClr val="bg1"/>
                          </a:solidFill>
                        </a:rPr>
                        <a:t>Aspect</a:t>
                      </a:r>
                      <a:endParaRPr lang="en-US" sz="1600" dirty="0"/>
                    </a:p>
                  </a:txBody>
                  <a:tcPr marL="109728" marR="109728"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SDLC (traditional)</a:t>
                      </a:r>
                      <a:endParaRPr lang="en-US" sz="1600" dirty="0"/>
                    </a:p>
                  </a:txBody>
                  <a:tcPr marL="109728" marR="109728"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Agile</a:t>
                      </a:r>
                      <a:endParaRPr lang="en-US" sz="1600" dirty="0"/>
                    </a:p>
                  </a:txBody>
                  <a:tcPr marL="109728" marR="109728"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1"/>
                    </a:solidFill>
                  </a:tcPr>
                </a:tc>
              </a:tr>
              <a:tr h="1051560">
                <a:tc>
                  <a:txBody>
                    <a:bodyPr/>
                    <a:lstStyle/>
                    <a:p>
                      <a:pPr indent="0" marL="0">
                        <a:buNone/>
                      </a:pPr>
                      <a:r>
                        <a:rPr lang="en-US" sz="1600" b="1" dirty="0">
                          <a:solidFill>
                            <a:schemeClr val="tx2"/>
                          </a:solidFill>
                        </a:rPr>
                        <a:t>Flexibility</a:t>
                      </a:r>
                      <a:endParaRPr lang="en-US" sz="1600" dirty="0"/>
                    </a:p>
                  </a:txBody>
                  <a:tcPr marL="109728" marR="109728"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Low. Strict phase completion before advancing, so late changes are hard and costly.</a:t>
                      </a:r>
                      <a:endParaRPr lang="en-US" sz="1400" dirty="0"/>
                    </a:p>
                  </a:txBody>
                  <a:tcPr marL="109728" marR="109728"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tc>
                  <a:txBody>
                    <a:bodyPr/>
                    <a:lstStyle/>
                    <a:p>
                      <a:pPr indent="0" marL="0">
                        <a:buNone/>
                      </a:pPr>
                      <a:r>
                        <a:rPr lang="en-US" sz="1400" dirty="0">
                          <a:solidFill>
                            <a:schemeClr val="tx1"/>
                          </a:solidFill>
                        </a:rPr>
                        <a:t>Extreme. Adapts to evolving requirements at any time.</a:t>
                      </a:r>
                      <a:endParaRPr lang="en-US" sz="1400" dirty="0"/>
                    </a:p>
                  </a:txBody>
                  <a:tcPr marL="109728" marR="109728"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tr>
              <a:tr h="1234440">
                <a:tc>
                  <a:txBody>
                    <a:bodyPr/>
                    <a:lstStyle/>
                    <a:p>
                      <a:pPr indent="0" marL="0">
                        <a:buNone/>
                      </a:pPr>
                      <a:r>
                        <a:rPr lang="en-US" sz="1600" b="1" dirty="0">
                          <a:solidFill>
                            <a:schemeClr val="tx2"/>
                          </a:solidFill>
                        </a:rPr>
                        <a:t>Development approach</a:t>
                      </a:r>
                      <a:endParaRPr lang="en-US" sz="1600" dirty="0"/>
                    </a:p>
                  </a:txBody>
                  <a:tcPr marL="109728" marR="109728"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Linear and sequential. Customers take part only at the beginning and the end; risk is handled late.</a:t>
                      </a:r>
                      <a:endParaRPr lang="en-US" sz="1400" dirty="0"/>
                    </a:p>
                  </a:txBody>
                  <a:tcPr marL="109728" marR="109728"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tc>
                  <a:txBody>
                    <a:bodyPr/>
                    <a:lstStyle/>
                    <a:p>
                      <a:pPr indent="0" marL="0">
                        <a:buNone/>
                      </a:pPr>
                      <a:r>
                        <a:rPr lang="en-US" sz="1400" dirty="0">
                          <a:solidFill>
                            <a:schemeClr val="tx1"/>
                          </a:solidFill>
                        </a:rPr>
                        <a:t>Iterative sprints with incremental delivery. Constant customer involvement and continuous risk management.</a:t>
                      </a:r>
                      <a:endParaRPr lang="en-US" sz="1400" dirty="0"/>
                    </a:p>
                  </a:txBody>
                  <a:tcPr marL="109728" marR="109728" marT="73152" marB="73152"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tr>
            </a:tbl>
          </a:graphicData>
        </a:graphic>
      </p:graphicFrame>
      <p:sp>
        <p:nvSpPr>
          <p:cNvPr id="4" name="Comparison takeaway"/>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2000" b="1" dirty="0">
                <a:solidFill>
                  <a:schemeClr val="accent2"/>
                </a:solidFill>
              </a:rPr>
              <a:t>SDLC: plan, then build.   Agile: build, learn, adapt.</a:t>
            </a:r>
            <a:endParaRPr lang="en-US" sz="2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400" b="1" dirty="0">
                <a:solidFill>
                  <a:schemeClr val="tx2"/>
                </a:solidFill>
              </a:rPr>
              <a:t>When Agile Is Better</a:t>
            </a:r>
            <a:endParaRPr lang="en-US" sz="3400" dirty="0"/>
          </a:p>
        </p:txBody>
      </p:sp>
      <p:sp>
        <p:nvSpPr>
          <p:cNvPr id="3" name="Scenario card"/>
          <p:cNvSpPr/>
          <p:nvPr/>
        </p:nvSpPr>
        <p:spPr>
          <a:xfrm>
            <a:off x="457200" y="1280160"/>
            <a:ext cx="3840480" cy="3291840"/>
          </a:xfrm>
          <a:prstGeom prst="roundRect">
            <a:avLst>
              <a:gd name="adj" fmla="val 2778"/>
            </a:avLst>
          </a:prstGeom>
          <a:solidFill>
            <a:schemeClr val="accent1"/>
          </a:solidFill>
          <a:ln/>
        </p:spPr>
      </p:sp>
      <p:sp>
        <p:nvSpPr>
          <p:cNvPr id="4" name="Scenario label"/>
          <p:cNvSpPr txBox="1"/>
          <p:nvPr/>
        </p:nvSpPr>
        <p:spPr>
          <a:xfrm>
            <a:off x="731520" y="1508760"/>
            <a:ext cx="3291840" cy="274320"/>
          </a:xfrm>
          <a:prstGeom prst="rect">
            <a:avLst/>
          </a:prstGeom>
          <a:noFill/>
          <a:ln/>
        </p:spPr>
        <p:txBody>
          <a:bodyPr wrap="square" lIns="0" tIns="0" rIns="0" bIns="0" rtlCol="0" anchor="t"/>
          <a:lstStyle/>
          <a:p>
            <a:pPr indent="0" marL="0">
              <a:buNone/>
            </a:pPr>
            <a:r>
              <a:rPr lang="en-US" sz="1400" b="1" dirty="0">
                <a:solidFill>
                  <a:schemeClr val="accent5"/>
                </a:solidFill>
              </a:rPr>
              <a:t>SCENARIO</a:t>
            </a:r>
            <a:endParaRPr lang="en-US" sz="1400" dirty="0"/>
          </a:p>
        </p:txBody>
      </p:sp>
      <p:sp>
        <p:nvSpPr>
          <p:cNvPr id="5" name="Scenario headline"/>
          <p:cNvSpPr txBox="1"/>
          <p:nvPr/>
        </p:nvSpPr>
        <p:spPr>
          <a:xfrm>
            <a:off x="731520" y="1828800"/>
            <a:ext cx="3291840" cy="914400"/>
          </a:xfrm>
          <a:prstGeom prst="rect">
            <a:avLst/>
          </a:prstGeom>
          <a:noFill/>
          <a:ln/>
        </p:spPr>
        <p:txBody>
          <a:bodyPr wrap="square" lIns="0" tIns="0" rIns="0" bIns="0" rtlCol="0" anchor="t"/>
          <a:lstStyle/>
          <a:p>
            <a:pPr indent="0" marL="0">
              <a:buNone/>
            </a:pPr>
            <a:r>
              <a:rPr lang="en-US" sz="2200" b="1" dirty="0">
                <a:solidFill>
                  <a:schemeClr val="bg1"/>
                </a:solidFill>
              </a:rPr>
              <a:t>A startup building a food-delivery app</a:t>
            </a:r>
            <a:endParaRPr lang="en-US" sz="2200" dirty="0"/>
          </a:p>
        </p:txBody>
      </p:sp>
      <p:sp>
        <p:nvSpPr>
          <p:cNvPr id="6" name="Scenario detail"/>
          <p:cNvSpPr txBox="1"/>
          <p:nvPr/>
        </p:nvSpPr>
        <p:spPr>
          <a:xfrm>
            <a:off x="731520" y="2834640"/>
            <a:ext cx="3291840" cy="822960"/>
          </a:xfrm>
          <a:prstGeom prst="rect">
            <a:avLst/>
          </a:prstGeom>
          <a:noFill/>
          <a:ln/>
        </p:spPr>
        <p:txBody>
          <a:bodyPr wrap="square" lIns="0" tIns="0" rIns="0" bIns="0" rtlCol="0" anchor="t"/>
          <a:lstStyle/>
          <a:p>
            <a:pPr indent="0" marL="0">
              <a:buNone/>
            </a:pPr>
            <a:r>
              <a:rPr lang="en-US" sz="1400" dirty="0">
                <a:solidFill>
                  <a:schemeClr val="bg1"/>
                </a:solidFill>
              </a:rPr>
              <a:t>Requirements keep evolving and speed-to-market matters, which is the chapter's ideal case for Agile.</a:t>
            </a:r>
            <a:endParaRPr lang="en-US" sz="1400" dirty="0"/>
          </a:p>
        </p:txBody>
      </p:sp>
      <p:sp>
        <p:nvSpPr>
          <p:cNvPr id="7" name="Scenario contrast"/>
          <p:cNvSpPr txBox="1"/>
          <p:nvPr/>
        </p:nvSpPr>
        <p:spPr>
          <a:xfrm>
            <a:off x="731520" y="3749040"/>
            <a:ext cx="3291840" cy="640080"/>
          </a:xfrm>
          <a:prstGeom prst="rect">
            <a:avLst/>
          </a:prstGeom>
          <a:noFill/>
          <a:ln/>
        </p:spPr>
        <p:txBody>
          <a:bodyPr wrap="square" lIns="0" tIns="0" rIns="0" bIns="0" rtlCol="0" anchor="t"/>
          <a:lstStyle/>
          <a:p>
            <a:pPr indent="0" marL="0">
              <a:buNone/>
            </a:pPr>
            <a:r>
              <a:rPr lang="en-US" sz="1400" i="1" dirty="0">
                <a:solidFill>
                  <a:schemeClr val="bg2"/>
                </a:solidFill>
              </a:rPr>
              <a:t>Traditional SDLC fits predictable, strictly regulated environments.</a:t>
            </a:r>
            <a:endParaRPr lang="en-US" sz="1400" dirty="0"/>
          </a:p>
        </p:txBody>
      </p:sp>
      <p:sp>
        <p:nvSpPr>
          <p:cNvPr id="8" name="Reason card 1"/>
          <p:cNvSpPr/>
          <p:nvPr/>
        </p:nvSpPr>
        <p:spPr>
          <a:xfrm>
            <a:off x="4572000" y="1280160"/>
            <a:ext cx="4114800" cy="1005840"/>
          </a:xfrm>
          <a:prstGeom prst="roundRect">
            <a:avLst>
              <a:gd name="adj" fmla="val 9091"/>
            </a:avLst>
          </a:prstGeom>
          <a:solidFill>
            <a:schemeClr val="bg2"/>
          </a:solidFill>
          <a:ln/>
        </p:spPr>
      </p:sp>
      <p:sp>
        <p:nvSpPr>
          <p:cNvPr id="9" name="Faster speed-to-market circle"/>
          <p:cNvSpPr/>
          <p:nvPr/>
        </p:nvSpPr>
        <p:spPr>
          <a:xfrm>
            <a:off x="4754880" y="1463040"/>
            <a:ext cx="640080" cy="640080"/>
          </a:xfrm>
          <a:prstGeom prst="ellipse">
            <a:avLst/>
          </a:prstGeom>
          <a:solidFill>
            <a:schemeClr val="accent2"/>
          </a:solidFill>
          <a:ln/>
        </p:spPr>
      </p:sp>
      <p:pic>
        <p:nvPicPr>
          <p:cNvPr id="10" name="Faster speed-to-market icon" descr="Faster speed-to-market">    </p:cNvPr>
          <p:cNvPicPr>
            <a:picLocks noChangeAspect="1"/>
          </p:cNvPicPr>
          <p:nvPr/>
        </p:nvPicPr>
        <p:blipFill>
          <a:blip r:embed="rId1"/>
          <a:stretch>
            <a:fillRect/>
          </a:stretch>
        </p:blipFill>
        <p:spPr>
          <a:xfrm>
            <a:off x="4934102" y="1642262"/>
            <a:ext cx="281635" cy="281635"/>
          </a:xfrm>
          <a:prstGeom prst="rect">
            <a:avLst/>
          </a:prstGeom>
        </p:spPr>
      </p:pic>
      <p:sp>
        <p:nvSpPr>
          <p:cNvPr id="11" name="Reason title 1"/>
          <p:cNvSpPr txBox="1"/>
          <p:nvPr/>
        </p:nvSpPr>
        <p:spPr>
          <a:xfrm>
            <a:off x="5577840" y="1417320"/>
            <a:ext cx="3017520" cy="320040"/>
          </a:xfrm>
          <a:prstGeom prst="rect">
            <a:avLst/>
          </a:prstGeom>
          <a:noFill/>
          <a:ln/>
        </p:spPr>
        <p:txBody>
          <a:bodyPr wrap="square" lIns="0" tIns="0" rIns="0" bIns="0" rtlCol="0" anchor="t"/>
          <a:lstStyle/>
          <a:p>
            <a:pPr indent="0" marL="0">
              <a:buNone/>
            </a:pPr>
            <a:r>
              <a:rPr lang="en-US" sz="1600" b="1" dirty="0">
                <a:solidFill>
                  <a:schemeClr val="tx2"/>
                </a:solidFill>
              </a:rPr>
              <a:t>Faster speed-to-market</a:t>
            </a:r>
            <a:endParaRPr lang="en-US" sz="1600" dirty="0"/>
          </a:p>
        </p:txBody>
      </p:sp>
      <p:sp>
        <p:nvSpPr>
          <p:cNvPr id="12" name="Reason text 1"/>
          <p:cNvSpPr txBox="1"/>
          <p:nvPr/>
        </p:nvSpPr>
        <p:spPr>
          <a:xfrm>
            <a:off x="5577840" y="1755648"/>
            <a:ext cx="3017520" cy="502920"/>
          </a:xfrm>
          <a:prstGeom prst="rect">
            <a:avLst/>
          </a:prstGeom>
          <a:noFill/>
          <a:ln/>
        </p:spPr>
        <p:txBody>
          <a:bodyPr wrap="square" lIns="0" tIns="0" rIns="0" bIns="0" rtlCol="0" anchor="t"/>
          <a:lstStyle/>
          <a:p>
            <a:pPr indent="0" marL="0">
              <a:buNone/>
            </a:pPr>
            <a:r>
              <a:rPr lang="en-US" sz="1400" dirty="0">
                <a:solidFill>
                  <a:schemeClr val="tx1"/>
                </a:solidFill>
              </a:rPr>
              <a:t>Release a first version in weeks, then keep adding.</a:t>
            </a:r>
            <a:endParaRPr lang="en-US" sz="1400" dirty="0"/>
          </a:p>
        </p:txBody>
      </p:sp>
      <p:sp>
        <p:nvSpPr>
          <p:cNvPr id="13" name="Reason card 2"/>
          <p:cNvSpPr/>
          <p:nvPr/>
        </p:nvSpPr>
        <p:spPr>
          <a:xfrm>
            <a:off x="4572000" y="2423160"/>
            <a:ext cx="4114800" cy="1005840"/>
          </a:xfrm>
          <a:prstGeom prst="roundRect">
            <a:avLst>
              <a:gd name="adj" fmla="val 9091"/>
            </a:avLst>
          </a:prstGeom>
          <a:solidFill>
            <a:schemeClr val="bg2"/>
          </a:solidFill>
          <a:ln/>
        </p:spPr>
      </p:sp>
      <p:sp>
        <p:nvSpPr>
          <p:cNvPr id="14" name="Constant customer feedback circle"/>
          <p:cNvSpPr/>
          <p:nvPr/>
        </p:nvSpPr>
        <p:spPr>
          <a:xfrm>
            <a:off x="4754880" y="2606040"/>
            <a:ext cx="640080" cy="640080"/>
          </a:xfrm>
          <a:prstGeom prst="ellipse">
            <a:avLst/>
          </a:prstGeom>
          <a:solidFill>
            <a:schemeClr val="accent2"/>
          </a:solidFill>
          <a:ln/>
        </p:spPr>
      </p:sp>
      <p:pic>
        <p:nvPicPr>
          <p:cNvPr id="15" name="Constant customer feedback icon" descr="Constant customer feedback">    </p:cNvPr>
          <p:cNvPicPr>
            <a:picLocks noChangeAspect="1"/>
          </p:cNvPicPr>
          <p:nvPr/>
        </p:nvPicPr>
        <p:blipFill>
          <a:blip r:embed="rId2"/>
          <a:stretch>
            <a:fillRect/>
          </a:stretch>
        </p:blipFill>
        <p:spPr>
          <a:xfrm>
            <a:off x="4934102" y="2785262"/>
            <a:ext cx="281635" cy="281635"/>
          </a:xfrm>
          <a:prstGeom prst="rect">
            <a:avLst/>
          </a:prstGeom>
        </p:spPr>
      </p:pic>
      <p:sp>
        <p:nvSpPr>
          <p:cNvPr id="16" name="Reason title 2"/>
          <p:cNvSpPr txBox="1"/>
          <p:nvPr/>
        </p:nvSpPr>
        <p:spPr>
          <a:xfrm>
            <a:off x="5577840" y="2560320"/>
            <a:ext cx="3017520" cy="320040"/>
          </a:xfrm>
          <a:prstGeom prst="rect">
            <a:avLst/>
          </a:prstGeom>
          <a:noFill/>
          <a:ln/>
        </p:spPr>
        <p:txBody>
          <a:bodyPr wrap="square" lIns="0" tIns="0" rIns="0" bIns="0" rtlCol="0" anchor="t"/>
          <a:lstStyle/>
          <a:p>
            <a:pPr indent="0" marL="0">
              <a:buNone/>
            </a:pPr>
            <a:r>
              <a:rPr lang="en-US" sz="1600" b="1" dirty="0">
                <a:solidFill>
                  <a:schemeClr val="tx2"/>
                </a:solidFill>
              </a:rPr>
              <a:t>Constant customer feedback</a:t>
            </a:r>
            <a:endParaRPr lang="en-US" sz="1600" dirty="0"/>
          </a:p>
        </p:txBody>
      </p:sp>
      <p:sp>
        <p:nvSpPr>
          <p:cNvPr id="17" name="Reason text 2"/>
          <p:cNvSpPr txBox="1"/>
          <p:nvPr/>
        </p:nvSpPr>
        <p:spPr>
          <a:xfrm>
            <a:off x="5577840" y="2898648"/>
            <a:ext cx="3017520" cy="502920"/>
          </a:xfrm>
          <a:prstGeom prst="rect">
            <a:avLst/>
          </a:prstGeom>
          <a:noFill/>
          <a:ln/>
        </p:spPr>
        <p:txBody>
          <a:bodyPr wrap="square" lIns="0" tIns="0" rIns="0" bIns="0" rtlCol="0" anchor="t"/>
          <a:lstStyle/>
          <a:p>
            <a:pPr indent="0" marL="0">
              <a:buNone/>
            </a:pPr>
            <a:r>
              <a:rPr lang="en-US" sz="1400" dirty="0">
                <a:solidFill>
                  <a:schemeClr val="tx1"/>
                </a:solidFill>
              </a:rPr>
              <a:t>Sprint reviews shape what is built next.</a:t>
            </a:r>
            <a:endParaRPr lang="en-US" sz="1400" dirty="0"/>
          </a:p>
        </p:txBody>
      </p:sp>
      <p:sp>
        <p:nvSpPr>
          <p:cNvPr id="18" name="Reason card 3"/>
          <p:cNvSpPr/>
          <p:nvPr/>
        </p:nvSpPr>
        <p:spPr>
          <a:xfrm>
            <a:off x="4572000" y="3566160"/>
            <a:ext cx="4114800" cy="1005840"/>
          </a:xfrm>
          <a:prstGeom prst="roundRect">
            <a:avLst>
              <a:gd name="adj" fmla="val 9091"/>
            </a:avLst>
          </a:prstGeom>
          <a:solidFill>
            <a:schemeClr val="bg2"/>
          </a:solidFill>
          <a:ln/>
        </p:spPr>
      </p:sp>
      <p:sp>
        <p:nvSpPr>
          <p:cNvPr id="19" name="Flexible to change circle"/>
          <p:cNvSpPr/>
          <p:nvPr/>
        </p:nvSpPr>
        <p:spPr>
          <a:xfrm>
            <a:off x="4754880" y="3749040"/>
            <a:ext cx="640080" cy="640080"/>
          </a:xfrm>
          <a:prstGeom prst="ellipse">
            <a:avLst/>
          </a:prstGeom>
          <a:solidFill>
            <a:schemeClr val="accent2"/>
          </a:solidFill>
          <a:ln/>
        </p:spPr>
      </p:sp>
      <p:pic>
        <p:nvPicPr>
          <p:cNvPr id="20" name="Flexible to change icon" descr="Flexible to change">    </p:cNvPr>
          <p:cNvPicPr>
            <a:picLocks noChangeAspect="1"/>
          </p:cNvPicPr>
          <p:nvPr/>
        </p:nvPicPr>
        <p:blipFill>
          <a:blip r:embed="rId3"/>
          <a:stretch>
            <a:fillRect/>
          </a:stretch>
        </p:blipFill>
        <p:spPr>
          <a:xfrm>
            <a:off x="4934102" y="3928262"/>
            <a:ext cx="281635" cy="281635"/>
          </a:xfrm>
          <a:prstGeom prst="rect">
            <a:avLst/>
          </a:prstGeom>
        </p:spPr>
      </p:pic>
      <p:sp>
        <p:nvSpPr>
          <p:cNvPr id="21" name="Reason title 3"/>
          <p:cNvSpPr txBox="1"/>
          <p:nvPr/>
        </p:nvSpPr>
        <p:spPr>
          <a:xfrm>
            <a:off x="5577840" y="3703320"/>
            <a:ext cx="3017520" cy="320040"/>
          </a:xfrm>
          <a:prstGeom prst="rect">
            <a:avLst/>
          </a:prstGeom>
          <a:noFill/>
          <a:ln/>
        </p:spPr>
        <p:txBody>
          <a:bodyPr wrap="square" lIns="0" tIns="0" rIns="0" bIns="0" rtlCol="0" anchor="t"/>
          <a:lstStyle/>
          <a:p>
            <a:pPr indent="0" marL="0">
              <a:buNone/>
            </a:pPr>
            <a:r>
              <a:rPr lang="en-US" sz="1600" b="1" dirty="0">
                <a:solidFill>
                  <a:schemeClr val="tx2"/>
                </a:solidFill>
              </a:rPr>
              <a:t>Flexible to change</a:t>
            </a:r>
            <a:endParaRPr lang="en-US" sz="1600" dirty="0"/>
          </a:p>
        </p:txBody>
      </p:sp>
      <p:sp>
        <p:nvSpPr>
          <p:cNvPr id="22" name="Reason text 3"/>
          <p:cNvSpPr txBox="1"/>
          <p:nvPr/>
        </p:nvSpPr>
        <p:spPr>
          <a:xfrm>
            <a:off x="5577840" y="4041648"/>
            <a:ext cx="3017520" cy="502920"/>
          </a:xfrm>
          <a:prstGeom prst="rect">
            <a:avLst/>
          </a:prstGeom>
          <a:noFill/>
          <a:ln/>
        </p:spPr>
        <p:txBody>
          <a:bodyPr wrap="square" lIns="0" tIns="0" rIns="0" bIns="0" rtlCol="0" anchor="t"/>
          <a:lstStyle/>
          <a:p>
            <a:pPr indent="0" marL="0">
              <a:buNone/>
            </a:pPr>
            <a:r>
              <a:rPr lang="en-US" sz="1400" dirty="0">
                <a:solidFill>
                  <a:schemeClr val="tx1"/>
                </a:solidFill>
              </a:rPr>
              <a:t>Requirements can evolve without restarting.</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400" b="1" dirty="0">
                <a:solidFill>
                  <a:schemeClr val="bg1"/>
                </a:solidFill>
              </a:rPr>
              <a:t>Key Takeaways</a:t>
            </a:r>
            <a:endParaRPr lang="en-US" sz="3400" dirty="0"/>
          </a:p>
        </p:txBody>
      </p:sp>
      <p:sp>
        <p:nvSpPr>
          <p:cNvPr id="3" name="Takeaways"/>
          <p:cNvSpPr txBox="1"/>
          <p:nvPr/>
        </p:nvSpPr>
        <p:spPr>
          <a:xfrm>
            <a:off x="457200" y="1371600"/>
            <a:ext cx="5760720" cy="31089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bg1"/>
                </a:solidFill>
              </a:rPr>
              <a:t>SAD is the continuous process of studying, planning, designing, and implementing systems for business needs.</a:t>
            </a:r>
            <a:endParaRPr lang="en-US" sz="1800" dirty="0"/>
          </a:p>
          <a:p>
            <a:pPr marL="342900" indent="-342900">
              <a:spcAft>
                <a:spcPts val="1200"/>
              </a:spcAft>
              <a:buSzPct val="100000"/>
              <a:buChar char="•"/>
            </a:pPr>
            <a:r>
              <a:rPr lang="en-US" sz="1800" dirty="0">
                <a:solidFill>
                  <a:schemeClr val="bg1"/>
                </a:solidFill>
              </a:rPr>
              <a:t>The analyst turns business ambiguity into technical clarity.</a:t>
            </a:r>
            <a:endParaRPr lang="en-US" sz="1800" dirty="0"/>
          </a:p>
          <a:p>
            <a:pPr marL="342900" indent="-342900">
              <a:spcAft>
                <a:spcPts val="1200"/>
              </a:spcAft>
              <a:buSzPct val="100000"/>
              <a:buChar char="•"/>
            </a:pPr>
            <a:r>
              <a:rPr lang="en-US" sz="1800" dirty="0">
                <a:solidFill>
                  <a:schemeClr val="bg1"/>
                </a:solidFill>
              </a:rPr>
              <a:t>Traditional SDLC is linear with low flexibility; Agile is extremely flexible with constant feedback.</a:t>
            </a:r>
            <a:endParaRPr lang="en-US" sz="1800" dirty="0"/>
          </a:p>
          <a:p>
            <a:pPr marL="342900" indent="-342900">
              <a:buSzPct val="100000"/>
              <a:buChar char="•"/>
            </a:pPr>
            <a:r>
              <a:rPr lang="en-US" sz="1800" dirty="0">
                <a:solidFill>
                  <a:schemeClr val="bg1"/>
                </a:solidFill>
              </a:rPr>
              <a:t>Choose the framework by how predictable the requirements are.</a:t>
            </a:r>
            <a:endParaRPr lang="en-US" sz="1800" dirty="0"/>
          </a:p>
        </p:txBody>
      </p:sp>
      <p:sp>
        <p:nvSpPr>
          <p:cNvPr id="4" name="Closing motif circle"/>
          <p:cNvSpPr/>
          <p:nvPr/>
        </p:nvSpPr>
        <p:spPr>
          <a:xfrm>
            <a:off x="6675120" y="1737360"/>
            <a:ext cx="2011680" cy="2011680"/>
          </a:xfrm>
          <a:prstGeom prst="ellipse">
            <a:avLst/>
          </a:prstGeom>
          <a:solidFill>
            <a:schemeClr val="accent2"/>
          </a:solidFill>
          <a:ln/>
        </p:spPr>
      </p:sp>
      <p:pic>
        <p:nvPicPr>
          <p:cNvPr id="5" name="Closing motif icon" descr="Checkmark">    </p:cNvPr>
          <p:cNvPicPr>
            <a:picLocks noChangeAspect="1"/>
          </p:cNvPicPr>
          <p:nvPr/>
        </p:nvPicPr>
        <p:blipFill>
          <a:blip r:embed="rId1"/>
          <a:stretch>
            <a:fillRect/>
          </a:stretch>
        </p:blipFill>
        <p:spPr>
          <a:xfrm>
            <a:off x="7223760" y="2286000"/>
            <a:ext cx="914400" cy="91440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SAD Teal">
  <a:themeElements>
    <a:clrScheme name="SAD Teal">
      <a:dk1>
        <a:srgbClr val="14232B"/>
      </a:dk1>
      <a:lt1>
        <a:srgbClr val="FFFFFF"/>
      </a:lt1>
      <a:dk2>
        <a:srgbClr val="0F4C5C"/>
      </a:dk2>
      <a:lt2>
        <a:srgbClr val="EAF2F3"/>
      </a:lt2>
      <a:accent1>
        <a:srgbClr val="0F4C5C"/>
      </a:accent1>
      <a:accent2>
        <a:srgbClr val="E36414"/>
      </a:accent2>
      <a:accent3>
        <a:srgbClr val="5F9EA0"/>
      </a:accent3>
      <a:accent4>
        <a:srgbClr val="9A031E"/>
      </a:accent4>
      <a:accent5>
        <a:srgbClr val="FB8B24"/>
      </a:accent5>
      <a:accent6>
        <a:srgbClr val="3A6EA5"/>
      </a:accent6>
      <a:hlink>
        <a:srgbClr val="0F4C5C"/>
      </a:hlink>
      <a:folHlink>
        <a:srgbClr val="5F9EA0"/>
      </a:folHlink>
    </a:clrScheme>
    <a:fontScheme name="SAD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Analysis and Design - Chapter 1 Activity</dc:title>
  <dc:subject>PptxGenJS Presentation</dc:subject>
  <dc:creator>PptxGenJS</dc:creator>
  <cp:lastModifiedBy>PptxGenJS</cp:lastModifiedBy>
  <cp:revision>1</cp:revision>
  <dcterms:created xsi:type="dcterms:W3CDTF">2026-10-27T09:45:11Z</dcterms:created>
  <dcterms:modified xsi:type="dcterms:W3CDTF">2026-10-27T09:45:11Z</dcterms:modified>
</cp:coreProperties>
</file>